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5240000" cy="85725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30"/>
  </p:normalViewPr>
  <p:slideViewPr>
    <p:cSldViewPr snapToGrid="0">
      <p:cViewPr varScale="1">
        <p:scale>
          <a:sx n="101" d="100"/>
          <a:sy n="101" d="100"/>
        </p:scale>
        <p:origin x="232"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source: user-provided SATUUU99 identity boards, 0406AABD-1B31-4585-A3C9-0834773E0AB6.PNG and 1EA5F5B3-5B3A-4519-9F4E-639ABB2B8651.PNG. Artwork and mockups extracted from supplied reference images. Existing spa mood images from the project are generated concept imagery, not documentary photographs. Layout, typography and body copy recreated as editable elements. Brand guidance beyond the reference is proposed implementation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E14C95A-AFF1-4F8C-A42C-15454F428CCF}"/>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SATUUU99 / BRAND IDENTITY</a:t>
            </a:r>
          </a:p>
        </p:txBody>
      </p:sp>
      <p:sp>
        <p:nvSpPr>
          <p:cNvPr id="2" name="Rectangle 1">
            <a:extLst>
              <a:ext uri="{FF2B5EF4-FFF2-40B4-BE49-F238E27FC236}">
                <a16:creationId xmlns:a16="http://schemas.microsoft.com/office/drawing/2014/main" id="{013BF63D-BC37-4F73-B7D8-F3633421AD37}"/>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01</a:t>
            </a:r>
          </a:p>
        </p:txBody>
      </p:sp>
      <p:pic>
        <p:nvPicPr>
          <p:cNvPr id="7" name="Picture 6"/>
          <p:cNvPicPr>
            <a:picLocks noChangeAspect="1"/>
          </p:cNvPicPr>
          <p:nvPr/>
        </p:nvPicPr>
        <p:blipFill>
          <a:blip r:embed="rId3"/>
          <a:stretch/>
        </p:blipFill>
        <p:spPr>
          <a:xfrm>
            <a:off x="4762500" y="1908086"/>
            <a:ext cx="5715000" cy="4051479"/>
          </a:xfrm>
          <a:prstGeom prst="rect">
            <a:avLst/>
          </a:prstGeom>
        </p:spPr>
      </p:pic>
    </p:spTree>
    <p:extLst>
      <p:ext uri="{BB962C8B-B14F-4D97-AF65-F5344CB8AC3E}">
        <p14:creationId xmlns:p14="http://schemas.microsoft.com/office/powerpoint/2010/main" val="1756813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1E28B46-F00E-4CBE-8894-A788FFF35B8F}"/>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OUR WORLD</a:t>
            </a:r>
          </a:p>
        </p:txBody>
      </p:sp>
      <p:sp>
        <p:nvSpPr>
          <p:cNvPr id="2" name="Rectangle 1">
            <a:extLst>
              <a:ext uri="{FF2B5EF4-FFF2-40B4-BE49-F238E27FC236}">
                <a16:creationId xmlns:a16="http://schemas.microsoft.com/office/drawing/2014/main" id="{F377D3C5-F4D0-45CF-8021-9381774A8699}"/>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02</a:t>
            </a:r>
          </a:p>
        </p:txBody>
      </p:sp>
      <p:sp>
        <p:nvSpPr>
          <p:cNvPr id="3" name="Rectangle 2">
            <a:extLst>
              <a:ext uri="{FF2B5EF4-FFF2-40B4-BE49-F238E27FC236}">
                <a16:creationId xmlns:a16="http://schemas.microsoft.com/office/drawing/2014/main" id="{E2BDCEED-3033-447F-A589-87FFDE08F3C4}"/>
              </a:ext>
            </a:extLst>
          </p:cNvPr>
          <p:cNvSpPr>
            <a:spLocks noGrp="1"/>
          </p:cNvSpPr>
          <p:nvPr/>
        </p:nvSpPr>
        <p:spPr>
          <a:xfrm>
            <a:off x="714375" y="1809750"/>
            <a:ext cx="6286500" cy="2857500"/>
          </a:xfrm>
          <a:prstGeom prst="rect">
            <a:avLst/>
          </a:prstGeom>
          <a:noFill/>
          <a:ln w="0">
            <a:noFill/>
          </a:ln>
        </p:spPr>
        <p:txBody>
          <a:bodyPr>
            <a:noAutofit/>
          </a:bodyPr>
          <a:lstStyle/>
          <a:p>
            <a:pPr>
              <a:defRPr sz="8100">
                <a:solidFill>
                  <a:srgbClr val="3A332B"/>
                </a:solidFill>
                <a:latin typeface="Playfair Display"/>
                <a:ea typeface="Playfair Display"/>
                <a:cs typeface="Playfair Display"/>
              </a:defRPr>
            </a:pPr>
            <a:r>
              <a:rPr sz="8100">
                <a:solidFill>
                  <a:srgbClr val="3A332B"/>
                </a:solidFill>
                <a:latin typeface="Playfair Display"/>
                <a:ea typeface="Playfair Display"/>
                <a:cs typeface="Playfair Display"/>
              </a:rPr>
              <a:t>More than</a:t>
            </a:r>
          </a:p>
          <a:p>
            <a:pPr>
              <a:defRPr sz="8100">
                <a:solidFill>
                  <a:srgbClr val="3A332B"/>
                </a:solidFill>
                <a:latin typeface="Playfair Display"/>
                <a:ea typeface="Playfair Display"/>
                <a:cs typeface="Playfair Display"/>
              </a:defRPr>
            </a:pPr>
            <a:r>
              <a:rPr sz="8100">
                <a:solidFill>
                  <a:srgbClr val="3A332B"/>
                </a:solidFill>
                <a:latin typeface="Playfair Display"/>
                <a:ea typeface="Playfair Display"/>
                <a:cs typeface="Playfair Display"/>
              </a:rPr>
              <a:t>a place.</a:t>
            </a:r>
          </a:p>
        </p:txBody>
      </p:sp>
      <p:sp>
        <p:nvSpPr>
          <p:cNvPr id="4" name="Rectangle 3">
            <a:extLst>
              <a:ext uri="{FF2B5EF4-FFF2-40B4-BE49-F238E27FC236}">
                <a16:creationId xmlns:a16="http://schemas.microsoft.com/office/drawing/2014/main" id="{E46C47F1-2614-44EF-847C-124213F5D29C}"/>
              </a:ext>
            </a:extLst>
          </p:cNvPr>
          <p:cNvSpPr>
            <a:spLocks noGrp="1"/>
          </p:cNvSpPr>
          <p:nvPr/>
        </p:nvSpPr>
        <p:spPr>
          <a:xfrm>
            <a:off x="762000" y="5619750"/>
            <a:ext cx="5238750" cy="1238250"/>
          </a:xfrm>
          <a:prstGeom prst="rect">
            <a:avLst/>
          </a:prstGeom>
          <a:noFill/>
          <a:ln w="0">
            <a:noFill/>
          </a:ln>
        </p:spPr>
        <p:txBody>
          <a:bodyPr>
            <a:noAutofit/>
          </a:bodyPr>
          <a:lstStyle/>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Culture. People. Nature.</a:t>
            </a:r>
          </a:p>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A slower tomorrow.</a:t>
            </a:r>
          </a:p>
        </p:txBody>
      </p:sp>
      <p:pic>
        <p:nvPicPr>
          <p:cNvPr id="10" name="Picture 9"/>
          <p:cNvPicPr>
            <a:picLocks noChangeAspect="1"/>
          </p:cNvPicPr>
          <p:nvPr/>
        </p:nvPicPr>
        <p:blipFill>
          <a:blip r:embed="rId3"/>
          <a:srcRect l="20750" r="20750"/>
          <a:stretch>
            <a:fillRect/>
          </a:stretch>
        </p:blipFill>
        <p:spPr>
          <a:xfrm>
            <a:off x="7524750" y="0"/>
            <a:ext cx="7715250" cy="8572500"/>
          </a:xfrm>
          <a:prstGeom prst="rect">
            <a:avLst/>
          </a:prstGeom>
        </p:spPr>
      </p:pic>
    </p:spTree>
    <p:extLst>
      <p:ext uri="{BB962C8B-B14F-4D97-AF65-F5344CB8AC3E}">
        <p14:creationId xmlns:p14="http://schemas.microsoft.com/office/powerpoint/2010/main" val="1705751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F48BB-AEB0-4705-AB4A-CC41CAE9AFC9}"/>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THE IDEA</a:t>
            </a:r>
          </a:p>
        </p:txBody>
      </p:sp>
      <p:sp>
        <p:nvSpPr>
          <p:cNvPr id="2" name="Rectangle 1">
            <a:extLst>
              <a:ext uri="{FF2B5EF4-FFF2-40B4-BE49-F238E27FC236}">
                <a16:creationId xmlns:a16="http://schemas.microsoft.com/office/drawing/2014/main" id="{FF89A317-334E-4D97-9A35-9FFC5232B379}"/>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03</a:t>
            </a:r>
          </a:p>
        </p:txBody>
      </p:sp>
      <p:sp>
        <p:nvSpPr>
          <p:cNvPr id="3" name="Rectangle 2">
            <a:extLst>
              <a:ext uri="{FF2B5EF4-FFF2-40B4-BE49-F238E27FC236}">
                <a16:creationId xmlns:a16="http://schemas.microsoft.com/office/drawing/2014/main" id="{E070EDAE-9E1E-4A20-BAED-3B26F27FF2E9}"/>
              </a:ext>
            </a:extLst>
          </p:cNvPr>
          <p:cNvSpPr>
            <a:spLocks noGrp="1"/>
          </p:cNvSpPr>
          <p:nvPr/>
        </p:nvSpPr>
        <p:spPr>
          <a:xfrm>
            <a:off x="714375" y="1666875"/>
            <a:ext cx="7620000" cy="4095750"/>
          </a:xfrm>
          <a:prstGeom prst="rect">
            <a:avLst/>
          </a:prstGeom>
          <a:noFill/>
          <a:ln w="0">
            <a:noFill/>
          </a:ln>
        </p:spPr>
        <p:txBody>
          <a:bodyPr>
            <a:noAutofit/>
          </a:bodyPr>
          <a:lstStyle/>
          <a:p>
            <a:pPr>
              <a:defRPr sz="6900">
                <a:solidFill>
                  <a:srgbClr val="3A332B"/>
                </a:solidFill>
                <a:latin typeface="Playfair Display"/>
                <a:ea typeface="Playfair Display"/>
                <a:cs typeface="Playfair Display"/>
              </a:defRPr>
            </a:pPr>
            <a:r>
              <a:rPr sz="6900">
                <a:solidFill>
                  <a:srgbClr val="3A332B"/>
                </a:solidFill>
                <a:latin typeface="Playfair Display"/>
                <a:ea typeface="Playfair Display"/>
                <a:cs typeface="Playfair Display"/>
              </a:rPr>
              <a:t>Rooted in today,</a:t>
            </a:r>
          </a:p>
          <a:p>
            <a:pPr>
              <a:defRPr sz="6900">
                <a:solidFill>
                  <a:srgbClr val="3A332B"/>
                </a:solidFill>
                <a:latin typeface="Playfair Display"/>
                <a:ea typeface="Playfair Display"/>
                <a:cs typeface="Playfair Display"/>
              </a:defRPr>
            </a:pPr>
            <a:r>
              <a:rPr sz="6900">
                <a:solidFill>
                  <a:srgbClr val="3A332B"/>
                </a:solidFill>
                <a:latin typeface="Playfair Display"/>
                <a:ea typeface="Playfair Display"/>
                <a:cs typeface="Playfair Display"/>
              </a:rPr>
              <a:t>inspired by</a:t>
            </a:r>
          </a:p>
          <a:p>
            <a:pPr>
              <a:defRPr sz="6900">
                <a:solidFill>
                  <a:srgbClr val="3A332B"/>
                </a:solidFill>
                <a:latin typeface="Playfair Display"/>
                <a:ea typeface="Playfair Display"/>
                <a:cs typeface="Playfair Display"/>
              </a:defRPr>
            </a:pPr>
            <a:r>
              <a:rPr sz="6900">
                <a:solidFill>
                  <a:srgbClr val="3A332B"/>
                </a:solidFill>
                <a:latin typeface="Playfair Display"/>
                <a:ea typeface="Playfair Display"/>
                <a:cs typeface="Playfair Display"/>
              </a:rPr>
              <a:t>tomorrow.</a:t>
            </a:r>
          </a:p>
        </p:txBody>
      </p:sp>
      <p:sp>
        <p:nvSpPr>
          <p:cNvPr id="4" name="Rectangle 3">
            <a:extLst>
              <a:ext uri="{FF2B5EF4-FFF2-40B4-BE49-F238E27FC236}">
                <a16:creationId xmlns:a16="http://schemas.microsoft.com/office/drawing/2014/main" id="{F64E9EBF-1746-4F57-8305-62601323E111}"/>
              </a:ext>
            </a:extLst>
          </p:cNvPr>
          <p:cNvSpPr>
            <a:spLocks noGrp="1"/>
          </p:cNvSpPr>
          <p:nvPr/>
        </p:nvSpPr>
        <p:spPr>
          <a:xfrm>
            <a:off x="762000" y="6238875"/>
            <a:ext cx="6667500" cy="1333500"/>
          </a:xfrm>
          <a:prstGeom prst="rect">
            <a:avLst/>
          </a:prstGeom>
          <a:noFill/>
          <a:ln w="0">
            <a:noFill/>
          </a:ln>
        </p:spPr>
        <p:txBody>
          <a:bodyPr>
            <a:noAutofit/>
          </a:bodyPr>
          <a:lstStyle/>
          <a:p>
            <a:pPr>
              <a:defRPr sz="1950">
                <a:solidFill>
                  <a:srgbClr val="3A332B"/>
                </a:solidFill>
                <a:latin typeface="Plus Jakarta Sans"/>
                <a:ea typeface="Plus Jakarta Sans"/>
                <a:cs typeface="Plus Jakarta Sans"/>
              </a:defRPr>
            </a:pPr>
            <a:r>
              <a:rPr sz="1950">
                <a:solidFill>
                  <a:srgbClr val="3A332B"/>
                </a:solidFill>
                <a:latin typeface="Plus Jakarta Sans"/>
                <a:ea typeface="Plus Jakarta Sans"/>
                <a:cs typeface="Plus Jakarta Sans"/>
              </a:rPr>
              <a:t>The same values, with a new perspective.</a:t>
            </a:r>
          </a:p>
          <a:p>
            <a:pPr>
              <a:defRPr sz="1950">
                <a:solidFill>
                  <a:srgbClr val="3A332B"/>
                </a:solidFill>
                <a:latin typeface="Plus Jakarta Sans"/>
                <a:ea typeface="Plus Jakarta Sans"/>
                <a:cs typeface="Plus Jakarta Sans"/>
              </a:defRPr>
            </a:pPr>
            <a:r>
              <a:rPr sz="1950">
                <a:solidFill>
                  <a:srgbClr val="3A332B"/>
                </a:solidFill>
                <a:latin typeface="Plus Jakarta Sans"/>
                <a:ea typeface="Plus Jakarta Sans"/>
                <a:cs typeface="Plus Jakarta Sans"/>
              </a:rPr>
              <a:t>A calmer world begins with the space</a:t>
            </a:r>
          </a:p>
          <a:p>
            <a:pPr>
              <a:defRPr sz="1950">
                <a:solidFill>
                  <a:srgbClr val="3A332B"/>
                </a:solidFill>
                <a:latin typeface="Plus Jakarta Sans"/>
                <a:ea typeface="Plus Jakarta Sans"/>
                <a:cs typeface="Plus Jakarta Sans"/>
              </a:defRPr>
            </a:pPr>
            <a:r>
              <a:rPr sz="1950">
                <a:solidFill>
                  <a:srgbClr val="3A332B"/>
                </a:solidFill>
                <a:latin typeface="Plus Jakarta Sans"/>
                <a:ea typeface="Plus Jakarta Sans"/>
                <a:cs typeface="Plus Jakarta Sans"/>
              </a:rPr>
              <a:t>we make for one another.</a:t>
            </a:r>
          </a:p>
        </p:txBody>
      </p:sp>
      <p:pic>
        <p:nvPicPr>
          <p:cNvPr id="10" name="Picture 9"/>
          <p:cNvPicPr>
            <a:picLocks noChangeAspect="1"/>
          </p:cNvPicPr>
          <p:nvPr/>
        </p:nvPicPr>
        <p:blipFill>
          <a:blip r:embed="rId3"/>
          <a:srcRect l="12573" r="12573"/>
          <a:stretch>
            <a:fillRect/>
          </a:stretch>
        </p:blipFill>
        <p:spPr>
          <a:xfrm>
            <a:off x="9144000" y="0"/>
            <a:ext cx="6096000" cy="8572500"/>
          </a:xfrm>
          <a:prstGeom prst="rect">
            <a:avLst/>
          </a:prstGeom>
        </p:spPr>
      </p:pic>
    </p:spTree>
    <p:extLst>
      <p:ext uri="{BB962C8B-B14F-4D97-AF65-F5344CB8AC3E}">
        <p14:creationId xmlns:p14="http://schemas.microsoft.com/office/powerpoint/2010/main" val="1056282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459C0CD-DCD6-422D-9083-B1FFBE3F85F2}"/>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THE LOGO</a:t>
            </a:r>
          </a:p>
        </p:txBody>
      </p:sp>
      <p:sp>
        <p:nvSpPr>
          <p:cNvPr id="2" name="Rectangle 1">
            <a:extLst>
              <a:ext uri="{FF2B5EF4-FFF2-40B4-BE49-F238E27FC236}">
                <a16:creationId xmlns:a16="http://schemas.microsoft.com/office/drawing/2014/main" id="{13B46B4D-ABBE-4256-802F-ECF29C5B73F0}"/>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04</a:t>
            </a:r>
          </a:p>
        </p:txBody>
      </p:sp>
      <p:pic>
        <p:nvPicPr>
          <p:cNvPr id="8" name="Picture 7"/>
          <p:cNvPicPr>
            <a:picLocks noChangeAspect="1"/>
          </p:cNvPicPr>
          <p:nvPr/>
        </p:nvPicPr>
        <p:blipFill>
          <a:blip r:embed="rId3"/>
          <a:stretch/>
        </p:blipFill>
        <p:spPr>
          <a:xfrm>
            <a:off x="1047750" y="2385699"/>
            <a:ext cx="6477000" cy="4591676"/>
          </a:xfrm>
          <a:prstGeom prst="rect">
            <a:avLst/>
          </a:prstGeom>
        </p:spPr>
      </p:pic>
      <p:sp>
        <p:nvSpPr>
          <p:cNvPr id="4" name="Rectangle 3">
            <a:extLst>
              <a:ext uri="{FF2B5EF4-FFF2-40B4-BE49-F238E27FC236}">
                <a16:creationId xmlns:a16="http://schemas.microsoft.com/office/drawing/2014/main" id="{8599DFC2-8A80-439E-AB57-F2DE225A24B9}"/>
              </a:ext>
            </a:extLst>
          </p:cNvPr>
          <p:cNvSpPr>
            <a:spLocks noGrp="1"/>
          </p:cNvSpPr>
          <p:nvPr/>
        </p:nvSpPr>
        <p:spPr>
          <a:xfrm>
            <a:off x="8953500" y="2095500"/>
            <a:ext cx="5429250" cy="2476500"/>
          </a:xfrm>
          <a:prstGeom prst="rect">
            <a:avLst/>
          </a:prstGeom>
          <a:noFill/>
          <a:ln w="0">
            <a:noFill/>
          </a:ln>
        </p:spPr>
        <p:txBody>
          <a:bodyPr>
            <a:noAutofit/>
          </a:bodyPr>
          <a:lstStyle/>
          <a:p>
            <a:pPr>
              <a:defRPr sz="4800">
                <a:solidFill>
                  <a:srgbClr val="3A332B"/>
                </a:solidFill>
                <a:latin typeface="Playfair Display"/>
                <a:ea typeface="Playfair Display"/>
                <a:cs typeface="Playfair Display"/>
              </a:defRPr>
            </a:pPr>
            <a:r>
              <a:rPr sz="4800">
                <a:solidFill>
                  <a:srgbClr val="3A332B"/>
                </a:solidFill>
                <a:latin typeface="Playfair Display"/>
                <a:ea typeface="Playfair Display"/>
                <a:cs typeface="Playfair Display"/>
              </a:rPr>
              <a:t>A familiar form.</a:t>
            </a:r>
          </a:p>
          <a:p>
            <a:pPr>
              <a:defRPr sz="4800">
                <a:solidFill>
                  <a:srgbClr val="3A332B"/>
                </a:solidFill>
                <a:latin typeface="Playfair Display"/>
                <a:ea typeface="Playfair Display"/>
                <a:cs typeface="Playfair Display"/>
              </a:defRPr>
            </a:pPr>
            <a:r>
              <a:rPr sz="4800">
                <a:solidFill>
                  <a:srgbClr val="3A332B"/>
                </a:solidFill>
                <a:latin typeface="Playfair Display"/>
                <a:ea typeface="Playfair Display"/>
                <a:cs typeface="Playfair Display"/>
              </a:rPr>
              <a:t>An open gesture.</a:t>
            </a:r>
          </a:p>
        </p:txBody>
      </p:sp>
      <p:sp>
        <p:nvSpPr>
          <p:cNvPr id="5" name="Rectangle 4">
            <a:extLst>
              <a:ext uri="{FF2B5EF4-FFF2-40B4-BE49-F238E27FC236}">
                <a16:creationId xmlns:a16="http://schemas.microsoft.com/office/drawing/2014/main" id="{3CE80D88-E21D-43C4-B9FB-FD6CD2C2CE44}"/>
              </a:ext>
            </a:extLst>
          </p:cNvPr>
          <p:cNvSpPr>
            <a:spLocks noGrp="1"/>
          </p:cNvSpPr>
          <p:nvPr/>
        </p:nvSpPr>
        <p:spPr>
          <a:xfrm>
            <a:off x="9001125" y="5191125"/>
            <a:ext cx="5381625" cy="1619250"/>
          </a:xfrm>
          <a:prstGeom prst="rect">
            <a:avLst/>
          </a:prstGeom>
          <a:noFill/>
          <a:ln w="0">
            <a:noFill/>
          </a:ln>
        </p:spPr>
        <p:txBody>
          <a:bodyPr>
            <a:noAutofit/>
          </a:bodyPr>
          <a:lstStyle/>
          <a:p>
            <a:pPr>
              <a:defRPr sz="1950">
                <a:solidFill>
                  <a:srgbClr val="3A332B"/>
                </a:solidFill>
                <a:latin typeface="Plus Jakarta Sans"/>
                <a:ea typeface="Plus Jakarta Sans"/>
                <a:cs typeface="Plus Jakarta Sans"/>
              </a:defRPr>
            </a:pPr>
            <a:r>
              <a:rPr sz="1950">
                <a:solidFill>
                  <a:srgbClr val="3A332B"/>
                </a:solidFill>
                <a:latin typeface="Plus Jakarta Sans"/>
                <a:ea typeface="Plus Jakarta Sans"/>
                <a:cs typeface="Plus Jakarta Sans"/>
              </a:rPr>
              <a:t>Inspired by traditional Thai architecture,</a:t>
            </a:r>
          </a:p>
          <a:p>
            <a:pPr>
              <a:defRPr sz="1950">
                <a:solidFill>
                  <a:srgbClr val="3A332B"/>
                </a:solidFill>
                <a:latin typeface="Plus Jakarta Sans"/>
                <a:ea typeface="Plus Jakarta Sans"/>
                <a:cs typeface="Plus Jakarta Sans"/>
              </a:defRPr>
            </a:pPr>
            <a:r>
              <a:rPr sz="1950">
                <a:solidFill>
                  <a:srgbClr val="3A332B"/>
                </a:solidFill>
                <a:latin typeface="Plus Jakarta Sans"/>
                <a:ea typeface="Plus Jakarta Sans"/>
                <a:cs typeface="Plus Jakarta Sans"/>
              </a:rPr>
              <a:t>the symbol expresses balance, openness</a:t>
            </a:r>
          </a:p>
          <a:p>
            <a:pPr>
              <a:defRPr sz="1950">
                <a:solidFill>
                  <a:srgbClr val="3A332B"/>
                </a:solidFill>
                <a:latin typeface="Plus Jakarta Sans"/>
                <a:ea typeface="Plus Jakarta Sans"/>
                <a:cs typeface="Plus Jakarta Sans"/>
              </a:defRPr>
            </a:pPr>
            <a:r>
              <a:rPr sz="1950">
                <a:solidFill>
                  <a:srgbClr val="3A332B"/>
                </a:solidFill>
                <a:latin typeface="Plus Jakarta Sans"/>
                <a:ea typeface="Plus Jakarta Sans"/>
                <a:cs typeface="Plus Jakarta Sans"/>
              </a:rPr>
              <a:t>and a brighter tomorrow.</a:t>
            </a:r>
          </a:p>
        </p:txBody>
      </p:sp>
    </p:spTree>
    <p:extLst>
      <p:ext uri="{BB962C8B-B14F-4D97-AF65-F5344CB8AC3E}">
        <p14:creationId xmlns:p14="http://schemas.microsoft.com/office/powerpoint/2010/main" val="1931978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9B8DBD-D535-4AF6-9F12-431059512BCD}"/>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LOGO USE</a:t>
            </a:r>
          </a:p>
        </p:txBody>
      </p:sp>
      <p:sp>
        <p:nvSpPr>
          <p:cNvPr id="2" name="Rectangle 1">
            <a:extLst>
              <a:ext uri="{FF2B5EF4-FFF2-40B4-BE49-F238E27FC236}">
                <a16:creationId xmlns:a16="http://schemas.microsoft.com/office/drawing/2014/main" id="{3FDFB9D3-C81F-4FE6-B1BE-AC6D1C26DB19}"/>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05</a:t>
            </a:r>
          </a:p>
        </p:txBody>
      </p:sp>
      <p:pic>
        <p:nvPicPr>
          <p:cNvPr id="9" name="Picture 8"/>
          <p:cNvPicPr>
            <a:picLocks noChangeAspect="1"/>
          </p:cNvPicPr>
          <p:nvPr/>
        </p:nvPicPr>
        <p:blipFill>
          <a:blip r:embed="rId3"/>
          <a:stretch/>
        </p:blipFill>
        <p:spPr>
          <a:xfrm>
            <a:off x="1428750" y="2619375"/>
            <a:ext cx="4953000" cy="2857500"/>
          </a:xfrm>
          <a:prstGeom prst="rect">
            <a:avLst/>
          </a:prstGeom>
        </p:spPr>
      </p:pic>
      <p:sp>
        <p:nvSpPr>
          <p:cNvPr id="4" name="Rectangle 3">
            <a:extLst>
              <a:ext uri="{FF2B5EF4-FFF2-40B4-BE49-F238E27FC236}">
                <a16:creationId xmlns:a16="http://schemas.microsoft.com/office/drawing/2014/main" id="{46828D51-72E2-491E-816E-63F411D11913}"/>
              </a:ext>
            </a:extLst>
          </p:cNvPr>
          <p:cNvSpPr>
            <a:spLocks noGrp="1"/>
          </p:cNvSpPr>
          <p:nvPr/>
        </p:nvSpPr>
        <p:spPr>
          <a:xfrm>
            <a:off x="8096250" y="1714500"/>
            <a:ext cx="6381750" cy="1428750"/>
          </a:xfrm>
          <a:prstGeom prst="rect">
            <a:avLst/>
          </a:prstGeom>
          <a:noFill/>
          <a:ln w="0">
            <a:noFill/>
          </a:ln>
        </p:spPr>
        <p:txBody>
          <a:bodyPr>
            <a:noAutofit/>
          </a:bodyPr>
          <a:lstStyle/>
          <a:p>
            <a:pPr>
              <a:defRPr sz="5250">
                <a:solidFill>
                  <a:srgbClr val="3A332B"/>
                </a:solidFill>
                <a:latin typeface="Playfair Display"/>
                <a:ea typeface="Playfair Display"/>
                <a:cs typeface="Playfair Display"/>
              </a:defRPr>
            </a:pPr>
            <a:r>
              <a:rPr sz="5250">
                <a:solidFill>
                  <a:srgbClr val="3A332B"/>
                </a:solidFill>
                <a:latin typeface="Playfair Display"/>
                <a:ea typeface="Playfair Display"/>
                <a:cs typeface="Playfair Display"/>
              </a:rPr>
              <a:t>Room to breathe</a:t>
            </a:r>
          </a:p>
        </p:txBody>
      </p:sp>
      <p:sp>
        <p:nvSpPr>
          <p:cNvPr id="5" name="Rectangle 4">
            <a:extLst>
              <a:ext uri="{FF2B5EF4-FFF2-40B4-BE49-F238E27FC236}">
                <a16:creationId xmlns:a16="http://schemas.microsoft.com/office/drawing/2014/main" id="{6B76A208-F11F-48DA-9ED4-A9C7FD4AB725}"/>
              </a:ext>
            </a:extLst>
          </p:cNvPr>
          <p:cNvSpPr>
            <a:spLocks noGrp="1"/>
          </p:cNvSpPr>
          <p:nvPr/>
        </p:nvSpPr>
        <p:spPr>
          <a:xfrm>
            <a:off x="8143875" y="3571875"/>
            <a:ext cx="6286500" cy="2857500"/>
          </a:xfrm>
          <a:prstGeom prst="rect">
            <a:avLst/>
          </a:prstGeom>
          <a:noFill/>
          <a:ln w="0">
            <a:noFill/>
          </a:ln>
        </p:spPr>
        <p:txBody>
          <a:bodyPr>
            <a:noAutofit/>
          </a:bodyPr>
          <a:lstStyle/>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Keep the symbol and wordmark in their</a:t>
            </a: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original proportions. Leave clear space</a:t>
            </a: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around the complete signature.</a:t>
            </a:r>
          </a:p>
          <a:p>
            <a:endParaRPr sz="2025">
              <a:solidFill>
                <a:srgbClr val="3A332B"/>
              </a:solidFill>
              <a:latin typeface="Plus Jakarta Sans"/>
              <a:ea typeface="Plus Jakarta Sans"/>
              <a:cs typeface="Plus Jakarta Sans"/>
            </a:endParaRP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Use earth on ivory for the primary identity.</a:t>
            </a: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Use the symbol alone when the brand</a:t>
            </a: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name is already present nearby.</a:t>
            </a:r>
          </a:p>
        </p:txBody>
      </p:sp>
      <p:sp>
        <p:nvSpPr>
          <p:cNvPr id="6" name="Rectangle 5">
            <a:extLst>
              <a:ext uri="{FF2B5EF4-FFF2-40B4-BE49-F238E27FC236}">
                <a16:creationId xmlns:a16="http://schemas.microsoft.com/office/drawing/2014/main" id="{0486EA5B-203E-4AEC-A5A1-149A492FA1D5}"/>
              </a:ext>
            </a:extLst>
          </p:cNvPr>
          <p:cNvSpPr>
            <a:spLocks noGrp="1"/>
          </p:cNvSpPr>
          <p:nvPr/>
        </p:nvSpPr>
        <p:spPr>
          <a:xfrm>
            <a:off x="1476375" y="6810375"/>
            <a:ext cx="5810250" cy="476250"/>
          </a:xfrm>
          <a:prstGeom prst="rect">
            <a:avLst/>
          </a:prstGeom>
          <a:noFill/>
          <a:ln w="0">
            <a:noFill/>
          </a:ln>
        </p:spPr>
        <p:txBody>
          <a:bodyPr>
            <a:noAutofit/>
          </a:bodyPr>
          <a:lstStyle/>
          <a:p>
            <a:pPr>
              <a:defRPr sz="1350">
                <a:solidFill>
                  <a:srgbClr val="3A332B"/>
                </a:solidFill>
                <a:latin typeface="Plus Jakarta Sans"/>
                <a:ea typeface="Plus Jakarta Sans"/>
                <a:cs typeface="Plus Jakarta Sans"/>
              </a:defRPr>
            </a:pPr>
            <a:r>
              <a:rPr sz="1350">
                <a:solidFill>
                  <a:srgbClr val="3A332B"/>
                </a:solidFill>
                <a:latin typeface="Plus Jakarta Sans"/>
                <a:ea typeface="Plus Jakarta Sans"/>
                <a:cs typeface="Plus Jakarta Sans"/>
              </a:rPr>
              <a:t>Artwork source: supplied brand board</a:t>
            </a:r>
          </a:p>
        </p:txBody>
      </p:sp>
    </p:spTree>
    <p:extLst>
      <p:ext uri="{BB962C8B-B14F-4D97-AF65-F5344CB8AC3E}">
        <p14:creationId xmlns:p14="http://schemas.microsoft.com/office/powerpoint/2010/main" val="165373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A332B"/>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B2BA21-6056-439B-9D09-BAC5FFAEF3EA}"/>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D9CEC2"/>
                </a:solidFill>
                <a:latin typeface="Plus Jakarta Sans"/>
                <a:ea typeface="Plus Jakarta Sans"/>
                <a:cs typeface="Plus Jakarta Sans"/>
              </a:defRPr>
            </a:pPr>
            <a:r>
              <a:rPr sz="1125">
                <a:solidFill>
                  <a:srgbClr val="D9CEC2"/>
                </a:solidFill>
                <a:latin typeface="Plus Jakarta Sans"/>
                <a:ea typeface="Plus Jakarta Sans"/>
                <a:cs typeface="Plus Jakarta Sans"/>
              </a:rPr>
              <a:t>SUPERGRAPHIC</a:t>
            </a:r>
          </a:p>
        </p:txBody>
      </p:sp>
      <p:sp>
        <p:nvSpPr>
          <p:cNvPr id="2" name="Rectangle 1">
            <a:extLst>
              <a:ext uri="{FF2B5EF4-FFF2-40B4-BE49-F238E27FC236}">
                <a16:creationId xmlns:a16="http://schemas.microsoft.com/office/drawing/2014/main" id="{30A8406D-6EF0-4F45-8275-1D01C74F07B2}"/>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D9CEC2"/>
                </a:solidFill>
                <a:latin typeface="Plus Jakarta Sans"/>
                <a:ea typeface="Plus Jakarta Sans"/>
                <a:cs typeface="Plus Jakarta Sans"/>
              </a:defRPr>
            </a:pPr>
            <a:r>
              <a:rPr sz="1125">
                <a:solidFill>
                  <a:srgbClr val="D9CEC2"/>
                </a:solidFill>
                <a:latin typeface="Plus Jakarta Sans"/>
                <a:ea typeface="Plus Jakarta Sans"/>
                <a:cs typeface="Plus Jakarta Sans"/>
              </a:rPr>
              <a:t>06</a:t>
            </a:r>
          </a:p>
        </p:txBody>
      </p:sp>
      <p:pic>
        <p:nvPicPr>
          <p:cNvPr id="8" name="Picture 7"/>
          <p:cNvPicPr>
            <a:picLocks noChangeAspect="1"/>
          </p:cNvPicPr>
          <p:nvPr/>
        </p:nvPicPr>
        <p:blipFill>
          <a:blip r:embed="rId3"/>
          <a:srcRect l="12828" r="12828"/>
          <a:stretch>
            <a:fillRect/>
          </a:stretch>
        </p:blipFill>
        <p:spPr>
          <a:xfrm>
            <a:off x="0" y="0"/>
            <a:ext cx="8096250" cy="8572500"/>
          </a:xfrm>
          <a:prstGeom prst="rect">
            <a:avLst/>
          </a:prstGeom>
        </p:spPr>
      </p:pic>
      <p:sp>
        <p:nvSpPr>
          <p:cNvPr id="4" name="Rectangle 3">
            <a:extLst>
              <a:ext uri="{FF2B5EF4-FFF2-40B4-BE49-F238E27FC236}">
                <a16:creationId xmlns:a16="http://schemas.microsoft.com/office/drawing/2014/main" id="{A2FB41B6-7DE9-4C77-9E3A-BC8CFBD6C446}"/>
              </a:ext>
            </a:extLst>
          </p:cNvPr>
          <p:cNvSpPr>
            <a:spLocks noGrp="1"/>
          </p:cNvSpPr>
          <p:nvPr/>
        </p:nvSpPr>
        <p:spPr>
          <a:xfrm>
            <a:off x="8953500" y="1714500"/>
            <a:ext cx="5619750" cy="2762250"/>
          </a:xfrm>
          <a:prstGeom prst="rect">
            <a:avLst/>
          </a:prstGeom>
          <a:noFill/>
          <a:ln w="0">
            <a:noFill/>
          </a:ln>
        </p:spPr>
        <p:txBody>
          <a:bodyPr>
            <a:noAutofit/>
          </a:bodyPr>
          <a:lstStyle/>
          <a:p>
            <a:pPr>
              <a:defRPr sz="5475">
                <a:solidFill>
                  <a:srgbClr val="D9CEC2"/>
                </a:solidFill>
                <a:latin typeface="Playfair Display"/>
                <a:ea typeface="Playfair Display"/>
                <a:cs typeface="Playfair Display"/>
              </a:defRPr>
            </a:pPr>
            <a:r>
              <a:rPr sz="5475">
                <a:solidFill>
                  <a:srgbClr val="D9CEC2"/>
                </a:solidFill>
                <a:latin typeface="Playfair Display"/>
                <a:ea typeface="Playfair Display"/>
                <a:cs typeface="Playfair Display"/>
              </a:rPr>
              <a:t>One gesture.</a:t>
            </a:r>
          </a:p>
          <a:p>
            <a:pPr>
              <a:defRPr sz="5475">
                <a:solidFill>
                  <a:srgbClr val="D9CEC2"/>
                </a:solidFill>
                <a:latin typeface="Playfair Display"/>
                <a:ea typeface="Playfair Display"/>
                <a:cs typeface="Playfair Display"/>
              </a:defRPr>
            </a:pPr>
            <a:r>
              <a:rPr sz="5475">
                <a:solidFill>
                  <a:srgbClr val="D9CEC2"/>
                </a:solidFill>
                <a:latin typeface="Playfair Display"/>
                <a:ea typeface="Playfair Display"/>
                <a:cs typeface="Playfair Display"/>
              </a:rPr>
              <a:t>A larger presence.</a:t>
            </a:r>
          </a:p>
        </p:txBody>
      </p:sp>
      <p:sp>
        <p:nvSpPr>
          <p:cNvPr id="5" name="Rectangle 4">
            <a:extLst>
              <a:ext uri="{FF2B5EF4-FFF2-40B4-BE49-F238E27FC236}">
                <a16:creationId xmlns:a16="http://schemas.microsoft.com/office/drawing/2014/main" id="{0491116D-6061-4182-8A8E-2EE3AEF129B4}"/>
              </a:ext>
            </a:extLst>
          </p:cNvPr>
          <p:cNvSpPr>
            <a:spLocks noGrp="1"/>
          </p:cNvSpPr>
          <p:nvPr/>
        </p:nvSpPr>
        <p:spPr>
          <a:xfrm>
            <a:off x="9001125" y="5476875"/>
            <a:ext cx="5334000" cy="1524000"/>
          </a:xfrm>
          <a:prstGeom prst="rect">
            <a:avLst/>
          </a:prstGeom>
          <a:noFill/>
          <a:ln w="0">
            <a:noFill/>
          </a:ln>
        </p:spPr>
        <p:txBody>
          <a:bodyPr>
            <a:noAutofit/>
          </a:bodyPr>
          <a:lstStyle/>
          <a:p>
            <a:pPr>
              <a:defRPr sz="2025">
                <a:solidFill>
                  <a:srgbClr val="F6F3ED"/>
                </a:solidFill>
                <a:latin typeface="Plus Jakarta Sans"/>
                <a:ea typeface="Plus Jakarta Sans"/>
                <a:cs typeface="Plus Jakarta Sans"/>
              </a:defRPr>
            </a:pPr>
            <a:r>
              <a:rPr sz="2025">
                <a:solidFill>
                  <a:srgbClr val="F6F3ED"/>
                </a:solidFill>
                <a:latin typeface="Plus Jakarta Sans"/>
                <a:ea typeface="Plus Jakarta Sans"/>
                <a:cs typeface="Plus Jakarta Sans"/>
              </a:rPr>
              <a:t>Let the curves extend beyond the edge.</a:t>
            </a:r>
          </a:p>
          <a:p>
            <a:pPr>
              <a:defRPr sz="2025">
                <a:solidFill>
                  <a:srgbClr val="F6F3ED"/>
                </a:solidFill>
                <a:latin typeface="Plus Jakarta Sans"/>
                <a:ea typeface="Plus Jakarta Sans"/>
                <a:cs typeface="Plus Jakarta Sans"/>
              </a:defRPr>
            </a:pPr>
            <a:r>
              <a:rPr sz="2025">
                <a:solidFill>
                  <a:srgbClr val="F6F3ED"/>
                </a:solidFill>
                <a:latin typeface="Plus Jakarta Sans"/>
                <a:ea typeface="Plus Jakarta Sans"/>
                <a:cs typeface="Plus Jakarta Sans"/>
              </a:rPr>
              <a:t>Use a generous crop and a quiet contrast.</a:t>
            </a:r>
          </a:p>
          <a:p>
            <a:pPr>
              <a:defRPr sz="2025">
                <a:solidFill>
                  <a:srgbClr val="F6F3ED"/>
                </a:solidFill>
                <a:latin typeface="Plus Jakarta Sans"/>
                <a:ea typeface="Plus Jakarta Sans"/>
                <a:cs typeface="Plus Jakarta Sans"/>
              </a:defRPr>
            </a:pPr>
            <a:r>
              <a:rPr sz="2025">
                <a:solidFill>
                  <a:srgbClr val="F6F3ED"/>
                </a:solidFill>
                <a:latin typeface="Plus Jakarta Sans"/>
                <a:ea typeface="Plus Jakarta Sans"/>
                <a:cs typeface="Plus Jakarta Sans"/>
              </a:rPr>
              <a:t>Give the graphic its own space.</a:t>
            </a:r>
          </a:p>
        </p:txBody>
      </p:sp>
    </p:spTree>
    <p:extLst>
      <p:ext uri="{BB962C8B-B14F-4D97-AF65-F5344CB8AC3E}">
        <p14:creationId xmlns:p14="http://schemas.microsoft.com/office/powerpoint/2010/main" val="2015424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A688278-64BF-4FEF-95F7-604C30F5C721}"/>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PATTERN SYSTEM</a:t>
            </a:r>
          </a:p>
        </p:txBody>
      </p:sp>
      <p:sp>
        <p:nvSpPr>
          <p:cNvPr id="2" name="Rectangle 1">
            <a:extLst>
              <a:ext uri="{FF2B5EF4-FFF2-40B4-BE49-F238E27FC236}">
                <a16:creationId xmlns:a16="http://schemas.microsoft.com/office/drawing/2014/main" id="{D2418A61-9AFC-41B4-A1D6-B60024D783FB}"/>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07</a:t>
            </a:r>
          </a:p>
        </p:txBody>
      </p:sp>
      <p:pic>
        <p:nvPicPr>
          <p:cNvPr id="8" name="Picture 7"/>
          <p:cNvPicPr>
            <a:picLocks noChangeAspect="1"/>
          </p:cNvPicPr>
          <p:nvPr/>
        </p:nvPicPr>
        <p:blipFill>
          <a:blip r:embed="rId3"/>
          <a:srcRect l="4329" r="4329"/>
          <a:stretch>
            <a:fillRect/>
          </a:stretch>
        </p:blipFill>
        <p:spPr>
          <a:xfrm>
            <a:off x="0" y="1047750"/>
            <a:ext cx="7810500" cy="7524750"/>
          </a:xfrm>
          <a:prstGeom prst="rect">
            <a:avLst/>
          </a:prstGeom>
        </p:spPr>
      </p:pic>
      <p:sp>
        <p:nvSpPr>
          <p:cNvPr id="4" name="Rectangle 3">
            <a:extLst>
              <a:ext uri="{FF2B5EF4-FFF2-40B4-BE49-F238E27FC236}">
                <a16:creationId xmlns:a16="http://schemas.microsoft.com/office/drawing/2014/main" id="{EF9CD13B-706D-4A49-8F83-C0B7E9115D8D}"/>
              </a:ext>
            </a:extLst>
          </p:cNvPr>
          <p:cNvSpPr>
            <a:spLocks noGrp="1"/>
          </p:cNvSpPr>
          <p:nvPr/>
        </p:nvSpPr>
        <p:spPr>
          <a:xfrm>
            <a:off x="8858250" y="1905000"/>
            <a:ext cx="5619750" cy="2381250"/>
          </a:xfrm>
          <a:prstGeom prst="rect">
            <a:avLst/>
          </a:prstGeom>
          <a:noFill/>
          <a:ln w="0">
            <a:noFill/>
          </a:ln>
        </p:spPr>
        <p:txBody>
          <a:bodyPr>
            <a:noAutofit/>
          </a:bodyPr>
          <a:lstStyle/>
          <a:p>
            <a:pPr>
              <a:defRPr sz="6375">
                <a:solidFill>
                  <a:srgbClr val="3A332B"/>
                </a:solidFill>
                <a:latin typeface="Playfair Display"/>
                <a:ea typeface="Playfair Display"/>
                <a:cs typeface="Playfair Display"/>
              </a:defRPr>
            </a:pPr>
            <a:r>
              <a:rPr sz="6375">
                <a:solidFill>
                  <a:srgbClr val="3A332B"/>
                </a:solidFill>
                <a:latin typeface="Playfair Display"/>
                <a:ea typeface="Playfair Display"/>
                <a:cs typeface="Playfair Display"/>
              </a:rPr>
              <a:t>A familiar</a:t>
            </a:r>
          </a:p>
          <a:p>
            <a:pPr>
              <a:defRPr sz="6375">
                <a:solidFill>
                  <a:srgbClr val="3A332B"/>
                </a:solidFill>
                <a:latin typeface="Playfair Display"/>
                <a:ea typeface="Playfair Display"/>
                <a:cs typeface="Playfair Display"/>
              </a:defRPr>
            </a:pPr>
            <a:r>
              <a:rPr sz="6375">
                <a:solidFill>
                  <a:srgbClr val="3A332B"/>
                </a:solidFill>
                <a:latin typeface="Playfair Display"/>
                <a:ea typeface="Playfair Display"/>
                <a:cs typeface="Playfair Display"/>
              </a:rPr>
              <a:t>rhythm</a:t>
            </a:r>
          </a:p>
        </p:txBody>
      </p:sp>
      <p:sp>
        <p:nvSpPr>
          <p:cNvPr id="5" name="Rectangle 4">
            <a:extLst>
              <a:ext uri="{FF2B5EF4-FFF2-40B4-BE49-F238E27FC236}">
                <a16:creationId xmlns:a16="http://schemas.microsoft.com/office/drawing/2014/main" id="{672ACD8B-C8AA-45A5-A92B-553BE6BF8644}"/>
              </a:ext>
            </a:extLst>
          </p:cNvPr>
          <p:cNvSpPr>
            <a:spLocks noGrp="1"/>
          </p:cNvSpPr>
          <p:nvPr/>
        </p:nvSpPr>
        <p:spPr>
          <a:xfrm>
            <a:off x="8905875" y="5048250"/>
            <a:ext cx="5381625" cy="2286000"/>
          </a:xfrm>
          <a:prstGeom prst="rect">
            <a:avLst/>
          </a:prstGeom>
          <a:noFill/>
          <a:ln w="0">
            <a:noFill/>
          </a:ln>
        </p:spPr>
        <p:txBody>
          <a:bodyPr>
            <a:noAutofit/>
          </a:bodyPr>
          <a:lstStyle/>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A repeated gesture connects print,</a:t>
            </a: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packaging and the spaces we inhabit.</a:t>
            </a:r>
          </a:p>
          <a:p>
            <a:endParaRPr sz="2025">
              <a:solidFill>
                <a:srgbClr val="3A332B"/>
              </a:solidFill>
              <a:latin typeface="Plus Jakarta Sans"/>
              <a:ea typeface="Plus Jakarta Sans"/>
              <a:cs typeface="Plus Jakarta Sans"/>
            </a:endParaRP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Keep the pattern tonal. Leave areas</a:t>
            </a:r>
          </a:p>
          <a:p>
            <a:pPr>
              <a:defRPr sz="2025">
                <a:solidFill>
                  <a:srgbClr val="3A332B"/>
                </a:solidFill>
                <a:latin typeface="Plus Jakarta Sans"/>
                <a:ea typeface="Plus Jakarta Sans"/>
                <a:cs typeface="Plus Jakarta Sans"/>
              </a:defRPr>
            </a:pPr>
            <a:r>
              <a:rPr sz="2025">
                <a:solidFill>
                  <a:srgbClr val="3A332B"/>
                </a:solidFill>
                <a:latin typeface="Plus Jakarta Sans"/>
                <a:ea typeface="Plus Jakarta Sans"/>
                <a:cs typeface="Plus Jakarta Sans"/>
              </a:rPr>
              <a:t>of quiet around words and images.</a:t>
            </a:r>
          </a:p>
        </p:txBody>
      </p:sp>
    </p:spTree>
    <p:extLst>
      <p:ext uri="{BB962C8B-B14F-4D97-AF65-F5344CB8AC3E}">
        <p14:creationId xmlns:p14="http://schemas.microsoft.com/office/powerpoint/2010/main" val="470127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7841D8D-9717-48AC-8FC7-A42D53A0F7FB}"/>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COLOUR PALETTE</a:t>
            </a:r>
          </a:p>
        </p:txBody>
      </p:sp>
      <p:sp>
        <p:nvSpPr>
          <p:cNvPr id="2" name="Rectangle 1">
            <a:extLst>
              <a:ext uri="{FF2B5EF4-FFF2-40B4-BE49-F238E27FC236}">
                <a16:creationId xmlns:a16="http://schemas.microsoft.com/office/drawing/2014/main" id="{AC8EB000-A6AB-4B03-8840-F6B8514FF364}"/>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08</a:t>
            </a:r>
          </a:p>
        </p:txBody>
      </p:sp>
      <p:sp>
        <p:nvSpPr>
          <p:cNvPr id="3" name="Rectangle 2">
            <a:extLst>
              <a:ext uri="{FF2B5EF4-FFF2-40B4-BE49-F238E27FC236}">
                <a16:creationId xmlns:a16="http://schemas.microsoft.com/office/drawing/2014/main" id="{2B4E7558-2C7B-465D-B142-E856B5ED54BB}"/>
              </a:ext>
            </a:extLst>
          </p:cNvPr>
          <p:cNvSpPr>
            <a:spLocks noGrp="1"/>
          </p:cNvSpPr>
          <p:nvPr/>
        </p:nvSpPr>
        <p:spPr>
          <a:xfrm>
            <a:off x="714375" y="1285875"/>
            <a:ext cx="13335000" cy="1238250"/>
          </a:xfrm>
          <a:prstGeom prst="rect">
            <a:avLst/>
          </a:prstGeom>
          <a:noFill/>
          <a:ln w="0">
            <a:noFill/>
          </a:ln>
        </p:spPr>
        <p:txBody>
          <a:bodyPr>
            <a:noAutofit/>
          </a:bodyPr>
          <a:lstStyle/>
          <a:p>
            <a:pPr>
              <a:defRPr sz="6225">
                <a:solidFill>
                  <a:srgbClr val="3A332B"/>
                </a:solidFill>
                <a:latin typeface="Playfair Display"/>
                <a:ea typeface="Playfair Display"/>
                <a:cs typeface="Playfair Display"/>
              </a:defRPr>
            </a:pPr>
            <a:r>
              <a:rPr sz="6225">
                <a:solidFill>
                  <a:srgbClr val="3A332B"/>
                </a:solidFill>
                <a:latin typeface="Playfair Display"/>
                <a:ea typeface="Playfair Display"/>
                <a:cs typeface="Playfair Display"/>
              </a:rPr>
              <a:t>Warmth, in five tones</a:t>
            </a:r>
          </a:p>
        </p:txBody>
      </p:sp>
      <p:sp>
        <p:nvSpPr>
          <p:cNvPr id="4" name="Rectangle 3">
            <a:extLst>
              <a:ext uri="{FF2B5EF4-FFF2-40B4-BE49-F238E27FC236}">
                <a16:creationId xmlns:a16="http://schemas.microsoft.com/office/drawing/2014/main" id="{8C771E4B-1306-49EB-A6EE-A57973121948}"/>
              </a:ext>
            </a:extLst>
          </p:cNvPr>
          <p:cNvSpPr>
            <a:spLocks noGrp="1"/>
          </p:cNvSpPr>
          <p:nvPr/>
        </p:nvSpPr>
        <p:spPr>
          <a:xfrm>
            <a:off x="714375" y="3286125"/>
            <a:ext cx="2476500" cy="2428875"/>
          </a:xfrm>
          <a:prstGeom prst="rect">
            <a:avLst/>
          </a:prstGeom>
          <a:solidFill>
            <a:srgbClr val="3A332B"/>
          </a:solidFill>
          <a:ln w="9525">
            <a:solidFill>
              <a:srgbClr val="D9CEC2"/>
            </a:solidFill>
          </a:ln>
        </p:spPr>
        <p:txBody>
          <a:bodyPr/>
          <a:lstStyle/>
          <a:p>
            <a:endParaRPr lang="de-DE"/>
          </a:p>
        </p:txBody>
      </p:sp>
      <p:sp>
        <p:nvSpPr>
          <p:cNvPr id="5" name="Rectangle 4">
            <a:extLst>
              <a:ext uri="{FF2B5EF4-FFF2-40B4-BE49-F238E27FC236}">
                <a16:creationId xmlns:a16="http://schemas.microsoft.com/office/drawing/2014/main" id="{A40EA3CC-E8F8-4DF8-BECC-78B2188A9D6F}"/>
              </a:ext>
            </a:extLst>
          </p:cNvPr>
          <p:cNvSpPr>
            <a:spLocks noGrp="1"/>
          </p:cNvSpPr>
          <p:nvPr/>
        </p:nvSpPr>
        <p:spPr>
          <a:xfrm>
            <a:off x="714375" y="6048375"/>
            <a:ext cx="2571750" cy="333375"/>
          </a:xfrm>
          <a:prstGeom prst="rect">
            <a:avLst/>
          </a:prstGeom>
          <a:noFill/>
          <a:ln w="0">
            <a:noFill/>
          </a:ln>
        </p:spPr>
        <p:txBody>
          <a:bodyPr>
            <a:noAutofit/>
          </a:bodyPr>
          <a:lstStyle/>
          <a:p>
            <a:pPr>
              <a:defRPr sz="1575">
                <a:solidFill>
                  <a:srgbClr val="3A332B"/>
                </a:solidFill>
                <a:latin typeface="Plus Jakarta Sans"/>
                <a:ea typeface="Plus Jakarta Sans"/>
                <a:cs typeface="Plus Jakarta Sans"/>
              </a:defRPr>
            </a:pPr>
            <a:r>
              <a:rPr sz="1575">
                <a:solidFill>
                  <a:srgbClr val="3A332B"/>
                </a:solidFill>
                <a:latin typeface="Plus Jakarta Sans"/>
                <a:ea typeface="Plus Jakarta Sans"/>
                <a:cs typeface="Plus Jakarta Sans"/>
              </a:rPr>
              <a:t>EARTH</a:t>
            </a:r>
          </a:p>
        </p:txBody>
      </p:sp>
      <p:sp>
        <p:nvSpPr>
          <p:cNvPr id="6" name="Rectangle 5">
            <a:extLst>
              <a:ext uri="{FF2B5EF4-FFF2-40B4-BE49-F238E27FC236}">
                <a16:creationId xmlns:a16="http://schemas.microsoft.com/office/drawing/2014/main" id="{8CF9A95A-4732-4A59-B521-C9AB9021082E}"/>
              </a:ext>
            </a:extLst>
          </p:cNvPr>
          <p:cNvSpPr>
            <a:spLocks noGrp="1"/>
          </p:cNvSpPr>
          <p:nvPr/>
        </p:nvSpPr>
        <p:spPr>
          <a:xfrm>
            <a:off x="714375" y="6524625"/>
            <a:ext cx="2571750" cy="333375"/>
          </a:xfrm>
          <a:prstGeom prst="rect">
            <a:avLst/>
          </a:prstGeom>
          <a:noFill/>
          <a:ln w="0">
            <a:noFill/>
          </a:ln>
        </p:spPr>
        <p:txBody>
          <a:bodyPr>
            <a:noAutofit/>
          </a:bodyPr>
          <a:lstStyle/>
          <a:p>
            <a:pPr>
              <a:defRPr sz="1650">
                <a:solidFill>
                  <a:srgbClr val="3A332B"/>
                </a:solidFill>
                <a:latin typeface="Plus Jakarta Sans"/>
                <a:ea typeface="Plus Jakarta Sans"/>
                <a:cs typeface="Plus Jakarta Sans"/>
              </a:defRPr>
            </a:pPr>
            <a:r>
              <a:rPr sz="1650">
                <a:solidFill>
                  <a:srgbClr val="3A332B"/>
                </a:solidFill>
                <a:latin typeface="Plus Jakarta Sans"/>
                <a:ea typeface="Plus Jakarta Sans"/>
                <a:cs typeface="Plus Jakarta Sans"/>
              </a:rPr>
              <a:t>#3A332B</a:t>
            </a:r>
          </a:p>
        </p:txBody>
      </p:sp>
      <p:sp>
        <p:nvSpPr>
          <p:cNvPr id="7" name="Rectangle 6">
            <a:extLst>
              <a:ext uri="{FF2B5EF4-FFF2-40B4-BE49-F238E27FC236}">
                <a16:creationId xmlns:a16="http://schemas.microsoft.com/office/drawing/2014/main" id="{E8A63610-6FCE-4711-8E6A-69D3D4759FEB}"/>
              </a:ext>
            </a:extLst>
          </p:cNvPr>
          <p:cNvSpPr>
            <a:spLocks noGrp="1"/>
          </p:cNvSpPr>
          <p:nvPr/>
        </p:nvSpPr>
        <p:spPr>
          <a:xfrm>
            <a:off x="714375" y="7048500"/>
            <a:ext cx="2667000" cy="666750"/>
          </a:xfrm>
          <a:prstGeom prst="rect">
            <a:avLst/>
          </a:prstGeom>
          <a:noFill/>
          <a:ln w="0">
            <a:noFill/>
          </a:ln>
        </p:spPr>
        <p:txBody>
          <a:bodyPr>
            <a:noAutofit/>
          </a:bodyPr>
          <a:lstStyle/>
          <a:p>
            <a:pPr>
              <a:defRPr sz="1350">
                <a:solidFill>
                  <a:srgbClr val="3A332B"/>
                </a:solidFill>
                <a:latin typeface="Plus Jakarta Sans"/>
                <a:ea typeface="Plus Jakarta Sans"/>
                <a:cs typeface="Plus Jakarta Sans"/>
              </a:defRPr>
            </a:pPr>
            <a:r>
              <a:rPr sz="1350">
                <a:solidFill>
                  <a:srgbClr val="3A332B"/>
                </a:solidFill>
                <a:latin typeface="Plus Jakarta Sans"/>
                <a:ea typeface="Plus Jakarta Sans"/>
                <a:cs typeface="Plus Jakarta Sans"/>
              </a:rPr>
              <a:t>Primary text</a:t>
            </a:r>
          </a:p>
        </p:txBody>
      </p:sp>
      <p:sp>
        <p:nvSpPr>
          <p:cNvPr id="8" name="Rectangle 7">
            <a:extLst>
              <a:ext uri="{FF2B5EF4-FFF2-40B4-BE49-F238E27FC236}">
                <a16:creationId xmlns:a16="http://schemas.microsoft.com/office/drawing/2014/main" id="{1BBE51E3-F125-49A3-89CB-E80A5C729B38}"/>
              </a:ext>
            </a:extLst>
          </p:cNvPr>
          <p:cNvSpPr>
            <a:spLocks noGrp="1"/>
          </p:cNvSpPr>
          <p:nvPr/>
        </p:nvSpPr>
        <p:spPr>
          <a:xfrm>
            <a:off x="3505200" y="3286125"/>
            <a:ext cx="2476500" cy="2428875"/>
          </a:xfrm>
          <a:prstGeom prst="rect">
            <a:avLst/>
          </a:prstGeom>
          <a:solidFill>
            <a:srgbClr val="A69A8C"/>
          </a:solidFill>
          <a:ln w="9525">
            <a:solidFill>
              <a:srgbClr val="D9CEC2"/>
            </a:solidFill>
          </a:ln>
        </p:spPr>
        <p:txBody>
          <a:bodyPr/>
          <a:lstStyle/>
          <a:p>
            <a:endParaRPr lang="de-DE"/>
          </a:p>
        </p:txBody>
      </p:sp>
      <p:sp>
        <p:nvSpPr>
          <p:cNvPr id="9" name="Rectangle 8">
            <a:extLst>
              <a:ext uri="{FF2B5EF4-FFF2-40B4-BE49-F238E27FC236}">
                <a16:creationId xmlns:a16="http://schemas.microsoft.com/office/drawing/2014/main" id="{27123568-B684-4CD0-9C83-FD08B0332ACE}"/>
              </a:ext>
            </a:extLst>
          </p:cNvPr>
          <p:cNvSpPr>
            <a:spLocks noGrp="1"/>
          </p:cNvSpPr>
          <p:nvPr/>
        </p:nvSpPr>
        <p:spPr>
          <a:xfrm>
            <a:off x="3505200" y="6048375"/>
            <a:ext cx="2571750" cy="333375"/>
          </a:xfrm>
          <a:prstGeom prst="rect">
            <a:avLst/>
          </a:prstGeom>
          <a:noFill/>
          <a:ln w="0">
            <a:noFill/>
          </a:ln>
        </p:spPr>
        <p:txBody>
          <a:bodyPr>
            <a:noAutofit/>
          </a:bodyPr>
          <a:lstStyle/>
          <a:p>
            <a:pPr>
              <a:defRPr sz="1575">
                <a:solidFill>
                  <a:srgbClr val="3A332B"/>
                </a:solidFill>
                <a:latin typeface="Plus Jakarta Sans"/>
                <a:ea typeface="Plus Jakarta Sans"/>
                <a:cs typeface="Plus Jakarta Sans"/>
              </a:defRPr>
            </a:pPr>
            <a:r>
              <a:rPr sz="1575">
                <a:solidFill>
                  <a:srgbClr val="3A332B"/>
                </a:solidFill>
                <a:latin typeface="Plus Jakarta Sans"/>
                <a:ea typeface="Plus Jakarta Sans"/>
                <a:cs typeface="Plus Jakarta Sans"/>
              </a:rPr>
              <a:t>STONE</a:t>
            </a:r>
          </a:p>
        </p:txBody>
      </p:sp>
      <p:sp>
        <p:nvSpPr>
          <p:cNvPr id="10" name="Rectangle 9">
            <a:extLst>
              <a:ext uri="{FF2B5EF4-FFF2-40B4-BE49-F238E27FC236}">
                <a16:creationId xmlns:a16="http://schemas.microsoft.com/office/drawing/2014/main" id="{C9FB09E4-38DC-428C-8022-A41D3B3CBE9C}"/>
              </a:ext>
            </a:extLst>
          </p:cNvPr>
          <p:cNvSpPr>
            <a:spLocks noGrp="1"/>
          </p:cNvSpPr>
          <p:nvPr/>
        </p:nvSpPr>
        <p:spPr>
          <a:xfrm>
            <a:off x="3505200" y="6524625"/>
            <a:ext cx="2571750" cy="333375"/>
          </a:xfrm>
          <a:prstGeom prst="rect">
            <a:avLst/>
          </a:prstGeom>
          <a:noFill/>
          <a:ln w="0">
            <a:noFill/>
          </a:ln>
        </p:spPr>
        <p:txBody>
          <a:bodyPr>
            <a:noAutofit/>
          </a:bodyPr>
          <a:lstStyle/>
          <a:p>
            <a:pPr>
              <a:defRPr sz="1650">
                <a:solidFill>
                  <a:srgbClr val="3A332B"/>
                </a:solidFill>
                <a:latin typeface="Plus Jakarta Sans"/>
                <a:ea typeface="Plus Jakarta Sans"/>
                <a:cs typeface="Plus Jakarta Sans"/>
              </a:defRPr>
            </a:pPr>
            <a:r>
              <a:rPr sz="1650">
                <a:solidFill>
                  <a:srgbClr val="3A332B"/>
                </a:solidFill>
                <a:latin typeface="Plus Jakarta Sans"/>
                <a:ea typeface="Plus Jakarta Sans"/>
                <a:cs typeface="Plus Jakarta Sans"/>
              </a:rPr>
              <a:t>#A69A8C</a:t>
            </a:r>
          </a:p>
        </p:txBody>
      </p:sp>
      <p:sp>
        <p:nvSpPr>
          <p:cNvPr id="11" name="Rectangle 10">
            <a:extLst>
              <a:ext uri="{FF2B5EF4-FFF2-40B4-BE49-F238E27FC236}">
                <a16:creationId xmlns:a16="http://schemas.microsoft.com/office/drawing/2014/main" id="{87D410D5-4104-40BE-92B1-ECEF50A37963}"/>
              </a:ext>
            </a:extLst>
          </p:cNvPr>
          <p:cNvSpPr>
            <a:spLocks noGrp="1"/>
          </p:cNvSpPr>
          <p:nvPr/>
        </p:nvSpPr>
        <p:spPr>
          <a:xfrm>
            <a:off x="3505200" y="7048500"/>
            <a:ext cx="2667000" cy="666750"/>
          </a:xfrm>
          <a:prstGeom prst="rect">
            <a:avLst/>
          </a:prstGeom>
          <a:noFill/>
          <a:ln w="0">
            <a:noFill/>
          </a:ln>
        </p:spPr>
        <p:txBody>
          <a:bodyPr>
            <a:noAutofit/>
          </a:bodyPr>
          <a:lstStyle/>
          <a:p>
            <a:pPr>
              <a:defRPr sz="1350">
                <a:solidFill>
                  <a:srgbClr val="3A332B"/>
                </a:solidFill>
                <a:latin typeface="Plus Jakarta Sans"/>
                <a:ea typeface="Plus Jakarta Sans"/>
                <a:cs typeface="Plus Jakarta Sans"/>
              </a:defRPr>
            </a:pPr>
            <a:r>
              <a:rPr sz="1350">
                <a:solidFill>
                  <a:srgbClr val="3A332B"/>
                </a:solidFill>
                <a:latin typeface="Plus Jakarta Sans"/>
                <a:ea typeface="Plus Jakarta Sans"/>
                <a:cs typeface="Plus Jakarta Sans"/>
              </a:rPr>
              <a:t>Secondary surfaces</a:t>
            </a:r>
          </a:p>
        </p:txBody>
      </p:sp>
      <p:sp>
        <p:nvSpPr>
          <p:cNvPr id="12" name="Rectangle 11">
            <a:extLst>
              <a:ext uri="{FF2B5EF4-FFF2-40B4-BE49-F238E27FC236}">
                <a16:creationId xmlns:a16="http://schemas.microsoft.com/office/drawing/2014/main" id="{1C616D8A-E544-4A7F-82F6-5044A1A0666E}"/>
              </a:ext>
            </a:extLst>
          </p:cNvPr>
          <p:cNvSpPr>
            <a:spLocks noGrp="1"/>
          </p:cNvSpPr>
          <p:nvPr/>
        </p:nvSpPr>
        <p:spPr>
          <a:xfrm>
            <a:off x="6296025" y="3286125"/>
            <a:ext cx="2476500" cy="2428875"/>
          </a:xfrm>
          <a:prstGeom prst="rect">
            <a:avLst/>
          </a:prstGeom>
          <a:solidFill>
            <a:srgbClr val="D9CEC2"/>
          </a:solidFill>
          <a:ln w="9525">
            <a:solidFill>
              <a:srgbClr val="D9CEC2"/>
            </a:solidFill>
          </a:ln>
        </p:spPr>
        <p:txBody>
          <a:bodyPr/>
          <a:lstStyle/>
          <a:p>
            <a:endParaRPr lang="de-DE"/>
          </a:p>
        </p:txBody>
      </p:sp>
      <p:sp>
        <p:nvSpPr>
          <p:cNvPr id="13" name="Rectangle 12">
            <a:extLst>
              <a:ext uri="{FF2B5EF4-FFF2-40B4-BE49-F238E27FC236}">
                <a16:creationId xmlns:a16="http://schemas.microsoft.com/office/drawing/2014/main" id="{51201ED0-65C7-44AF-ABBA-A2D7F59E213C}"/>
              </a:ext>
            </a:extLst>
          </p:cNvPr>
          <p:cNvSpPr>
            <a:spLocks noGrp="1"/>
          </p:cNvSpPr>
          <p:nvPr/>
        </p:nvSpPr>
        <p:spPr>
          <a:xfrm>
            <a:off x="6296025" y="6048375"/>
            <a:ext cx="2571750" cy="333375"/>
          </a:xfrm>
          <a:prstGeom prst="rect">
            <a:avLst/>
          </a:prstGeom>
          <a:noFill/>
          <a:ln w="0">
            <a:noFill/>
          </a:ln>
        </p:spPr>
        <p:txBody>
          <a:bodyPr>
            <a:noAutofit/>
          </a:bodyPr>
          <a:lstStyle/>
          <a:p>
            <a:pPr>
              <a:defRPr sz="1575">
                <a:solidFill>
                  <a:srgbClr val="3A332B"/>
                </a:solidFill>
                <a:latin typeface="Plus Jakarta Sans"/>
                <a:ea typeface="Plus Jakarta Sans"/>
                <a:cs typeface="Plus Jakarta Sans"/>
              </a:defRPr>
            </a:pPr>
            <a:r>
              <a:rPr sz="1575">
                <a:solidFill>
                  <a:srgbClr val="3A332B"/>
                </a:solidFill>
                <a:latin typeface="Plus Jakarta Sans"/>
                <a:ea typeface="Plus Jakarta Sans"/>
                <a:cs typeface="Plus Jakarta Sans"/>
              </a:rPr>
              <a:t>SAND</a:t>
            </a:r>
          </a:p>
        </p:txBody>
      </p:sp>
      <p:sp>
        <p:nvSpPr>
          <p:cNvPr id="14" name="Rectangle 13">
            <a:extLst>
              <a:ext uri="{FF2B5EF4-FFF2-40B4-BE49-F238E27FC236}">
                <a16:creationId xmlns:a16="http://schemas.microsoft.com/office/drawing/2014/main" id="{C28A26D6-BADC-456D-A5C5-8F49A9EA9388}"/>
              </a:ext>
            </a:extLst>
          </p:cNvPr>
          <p:cNvSpPr>
            <a:spLocks noGrp="1"/>
          </p:cNvSpPr>
          <p:nvPr/>
        </p:nvSpPr>
        <p:spPr>
          <a:xfrm>
            <a:off x="6296025" y="6524625"/>
            <a:ext cx="2571750" cy="333375"/>
          </a:xfrm>
          <a:prstGeom prst="rect">
            <a:avLst/>
          </a:prstGeom>
          <a:noFill/>
          <a:ln w="0">
            <a:noFill/>
          </a:ln>
        </p:spPr>
        <p:txBody>
          <a:bodyPr>
            <a:noAutofit/>
          </a:bodyPr>
          <a:lstStyle/>
          <a:p>
            <a:pPr>
              <a:defRPr sz="1650">
                <a:solidFill>
                  <a:srgbClr val="3A332B"/>
                </a:solidFill>
                <a:latin typeface="Plus Jakarta Sans"/>
                <a:ea typeface="Plus Jakarta Sans"/>
                <a:cs typeface="Plus Jakarta Sans"/>
              </a:defRPr>
            </a:pPr>
            <a:r>
              <a:rPr sz="1650">
                <a:solidFill>
                  <a:srgbClr val="3A332B"/>
                </a:solidFill>
                <a:latin typeface="Plus Jakarta Sans"/>
                <a:ea typeface="Plus Jakarta Sans"/>
                <a:cs typeface="Plus Jakarta Sans"/>
              </a:rPr>
              <a:t>#D9CEC2</a:t>
            </a:r>
          </a:p>
        </p:txBody>
      </p:sp>
      <p:sp>
        <p:nvSpPr>
          <p:cNvPr id="15" name="Rectangle 14">
            <a:extLst>
              <a:ext uri="{FF2B5EF4-FFF2-40B4-BE49-F238E27FC236}">
                <a16:creationId xmlns:a16="http://schemas.microsoft.com/office/drawing/2014/main" id="{A19E490D-54AB-45AD-8112-1885702EA892}"/>
              </a:ext>
            </a:extLst>
          </p:cNvPr>
          <p:cNvSpPr>
            <a:spLocks noGrp="1"/>
          </p:cNvSpPr>
          <p:nvPr/>
        </p:nvSpPr>
        <p:spPr>
          <a:xfrm>
            <a:off x="6296025" y="7048500"/>
            <a:ext cx="2667000" cy="666750"/>
          </a:xfrm>
          <a:prstGeom prst="rect">
            <a:avLst/>
          </a:prstGeom>
          <a:noFill/>
          <a:ln w="0">
            <a:noFill/>
          </a:ln>
        </p:spPr>
        <p:txBody>
          <a:bodyPr>
            <a:noAutofit/>
          </a:bodyPr>
          <a:lstStyle/>
          <a:p>
            <a:pPr>
              <a:defRPr sz="1350">
                <a:solidFill>
                  <a:srgbClr val="3A332B"/>
                </a:solidFill>
                <a:latin typeface="Plus Jakarta Sans"/>
                <a:ea typeface="Plus Jakarta Sans"/>
                <a:cs typeface="Plus Jakarta Sans"/>
              </a:defRPr>
            </a:pPr>
            <a:r>
              <a:rPr sz="1350">
                <a:solidFill>
                  <a:srgbClr val="3A332B"/>
                </a:solidFill>
                <a:latin typeface="Plus Jakarta Sans"/>
                <a:ea typeface="Plus Jakarta Sans"/>
                <a:cs typeface="Plus Jakarta Sans"/>
              </a:rPr>
              <a:t>Dividers and texture</a:t>
            </a:r>
          </a:p>
        </p:txBody>
      </p:sp>
      <p:sp>
        <p:nvSpPr>
          <p:cNvPr id="16" name="Rectangle 15">
            <a:extLst>
              <a:ext uri="{FF2B5EF4-FFF2-40B4-BE49-F238E27FC236}">
                <a16:creationId xmlns:a16="http://schemas.microsoft.com/office/drawing/2014/main" id="{F80BB1C4-E84A-4360-9209-D70C4C22E75C}"/>
              </a:ext>
            </a:extLst>
          </p:cNvPr>
          <p:cNvSpPr>
            <a:spLocks noGrp="1"/>
          </p:cNvSpPr>
          <p:nvPr/>
        </p:nvSpPr>
        <p:spPr>
          <a:xfrm>
            <a:off x="9086850" y="3286125"/>
            <a:ext cx="2476500" cy="2428875"/>
          </a:xfrm>
          <a:prstGeom prst="rect">
            <a:avLst/>
          </a:prstGeom>
          <a:solidFill>
            <a:srgbClr val="F6F3ED"/>
          </a:solidFill>
          <a:ln w="9525">
            <a:solidFill>
              <a:srgbClr val="D9CEC2"/>
            </a:solidFill>
          </a:ln>
        </p:spPr>
        <p:txBody>
          <a:bodyPr/>
          <a:lstStyle/>
          <a:p>
            <a:endParaRPr lang="de-DE"/>
          </a:p>
        </p:txBody>
      </p:sp>
      <p:sp>
        <p:nvSpPr>
          <p:cNvPr id="17" name="Rectangle 16">
            <a:extLst>
              <a:ext uri="{FF2B5EF4-FFF2-40B4-BE49-F238E27FC236}">
                <a16:creationId xmlns:a16="http://schemas.microsoft.com/office/drawing/2014/main" id="{1C719BF4-4CA3-4BF4-9ED0-D3028B36029E}"/>
              </a:ext>
            </a:extLst>
          </p:cNvPr>
          <p:cNvSpPr>
            <a:spLocks noGrp="1"/>
          </p:cNvSpPr>
          <p:nvPr/>
        </p:nvSpPr>
        <p:spPr>
          <a:xfrm>
            <a:off x="9086850" y="6048375"/>
            <a:ext cx="2571750" cy="333375"/>
          </a:xfrm>
          <a:prstGeom prst="rect">
            <a:avLst/>
          </a:prstGeom>
          <a:noFill/>
          <a:ln w="0">
            <a:noFill/>
          </a:ln>
        </p:spPr>
        <p:txBody>
          <a:bodyPr>
            <a:noAutofit/>
          </a:bodyPr>
          <a:lstStyle/>
          <a:p>
            <a:pPr>
              <a:defRPr sz="1575">
                <a:solidFill>
                  <a:srgbClr val="3A332B"/>
                </a:solidFill>
                <a:latin typeface="Plus Jakarta Sans"/>
                <a:ea typeface="Plus Jakarta Sans"/>
                <a:cs typeface="Plus Jakarta Sans"/>
              </a:defRPr>
            </a:pPr>
            <a:r>
              <a:rPr sz="1575">
                <a:solidFill>
                  <a:srgbClr val="3A332B"/>
                </a:solidFill>
                <a:latin typeface="Plus Jakarta Sans"/>
                <a:ea typeface="Plus Jakarta Sans"/>
                <a:cs typeface="Plus Jakarta Sans"/>
              </a:rPr>
              <a:t>IVORY</a:t>
            </a:r>
          </a:p>
        </p:txBody>
      </p:sp>
      <p:sp>
        <p:nvSpPr>
          <p:cNvPr id="18" name="Rectangle 17">
            <a:extLst>
              <a:ext uri="{FF2B5EF4-FFF2-40B4-BE49-F238E27FC236}">
                <a16:creationId xmlns:a16="http://schemas.microsoft.com/office/drawing/2014/main" id="{89D0EDCF-1E4E-4270-92A0-B7B1E6E39FA1}"/>
              </a:ext>
            </a:extLst>
          </p:cNvPr>
          <p:cNvSpPr>
            <a:spLocks noGrp="1"/>
          </p:cNvSpPr>
          <p:nvPr/>
        </p:nvSpPr>
        <p:spPr>
          <a:xfrm>
            <a:off x="9086850" y="6524625"/>
            <a:ext cx="2571750" cy="333375"/>
          </a:xfrm>
          <a:prstGeom prst="rect">
            <a:avLst/>
          </a:prstGeom>
          <a:noFill/>
          <a:ln w="0">
            <a:noFill/>
          </a:ln>
        </p:spPr>
        <p:txBody>
          <a:bodyPr>
            <a:noAutofit/>
          </a:bodyPr>
          <a:lstStyle/>
          <a:p>
            <a:pPr>
              <a:defRPr sz="1650">
                <a:solidFill>
                  <a:srgbClr val="3A332B"/>
                </a:solidFill>
                <a:latin typeface="Plus Jakarta Sans"/>
                <a:ea typeface="Plus Jakarta Sans"/>
                <a:cs typeface="Plus Jakarta Sans"/>
              </a:defRPr>
            </a:pPr>
            <a:r>
              <a:rPr sz="1650">
                <a:solidFill>
                  <a:srgbClr val="3A332B"/>
                </a:solidFill>
                <a:latin typeface="Plus Jakarta Sans"/>
                <a:ea typeface="Plus Jakarta Sans"/>
                <a:cs typeface="Plus Jakarta Sans"/>
              </a:rPr>
              <a:t>#F6F3ED</a:t>
            </a:r>
          </a:p>
        </p:txBody>
      </p:sp>
      <p:sp>
        <p:nvSpPr>
          <p:cNvPr id="19" name="Rectangle 18">
            <a:extLst>
              <a:ext uri="{FF2B5EF4-FFF2-40B4-BE49-F238E27FC236}">
                <a16:creationId xmlns:a16="http://schemas.microsoft.com/office/drawing/2014/main" id="{7B00D91B-F0B2-431B-B055-8F104970713A}"/>
              </a:ext>
            </a:extLst>
          </p:cNvPr>
          <p:cNvSpPr>
            <a:spLocks noGrp="1"/>
          </p:cNvSpPr>
          <p:nvPr/>
        </p:nvSpPr>
        <p:spPr>
          <a:xfrm>
            <a:off x="9086850" y="7048500"/>
            <a:ext cx="2667000" cy="666750"/>
          </a:xfrm>
          <a:prstGeom prst="rect">
            <a:avLst/>
          </a:prstGeom>
          <a:noFill/>
          <a:ln w="0">
            <a:noFill/>
          </a:ln>
        </p:spPr>
        <p:txBody>
          <a:bodyPr>
            <a:noAutofit/>
          </a:bodyPr>
          <a:lstStyle/>
          <a:p>
            <a:pPr>
              <a:defRPr sz="1350">
                <a:solidFill>
                  <a:srgbClr val="3A332B"/>
                </a:solidFill>
                <a:latin typeface="Plus Jakarta Sans"/>
                <a:ea typeface="Plus Jakarta Sans"/>
                <a:cs typeface="Plus Jakarta Sans"/>
              </a:defRPr>
            </a:pPr>
            <a:r>
              <a:rPr sz="1350">
                <a:solidFill>
                  <a:srgbClr val="3A332B"/>
                </a:solidFill>
                <a:latin typeface="Plus Jakarta Sans"/>
                <a:ea typeface="Plus Jakarta Sans"/>
                <a:cs typeface="Plus Jakarta Sans"/>
              </a:rPr>
              <a:t>Primary canvas</a:t>
            </a:r>
          </a:p>
        </p:txBody>
      </p:sp>
      <p:sp>
        <p:nvSpPr>
          <p:cNvPr id="20" name="Rectangle 19">
            <a:extLst>
              <a:ext uri="{FF2B5EF4-FFF2-40B4-BE49-F238E27FC236}">
                <a16:creationId xmlns:a16="http://schemas.microsoft.com/office/drawing/2014/main" id="{99F1653F-64D5-4248-95ED-7DE4D0885F93}"/>
              </a:ext>
            </a:extLst>
          </p:cNvPr>
          <p:cNvSpPr>
            <a:spLocks noGrp="1"/>
          </p:cNvSpPr>
          <p:nvPr/>
        </p:nvSpPr>
        <p:spPr>
          <a:xfrm>
            <a:off x="11877675" y="3286125"/>
            <a:ext cx="2476500" cy="2428875"/>
          </a:xfrm>
          <a:prstGeom prst="rect">
            <a:avLst/>
          </a:prstGeom>
          <a:solidFill>
            <a:srgbClr val="1B1B1B"/>
          </a:solidFill>
          <a:ln w="9525">
            <a:solidFill>
              <a:srgbClr val="D9CEC2"/>
            </a:solidFill>
          </a:ln>
        </p:spPr>
        <p:txBody>
          <a:bodyPr/>
          <a:lstStyle/>
          <a:p>
            <a:endParaRPr lang="de-DE"/>
          </a:p>
        </p:txBody>
      </p:sp>
      <p:sp>
        <p:nvSpPr>
          <p:cNvPr id="21" name="Rectangle 20">
            <a:extLst>
              <a:ext uri="{FF2B5EF4-FFF2-40B4-BE49-F238E27FC236}">
                <a16:creationId xmlns:a16="http://schemas.microsoft.com/office/drawing/2014/main" id="{BEB770B7-9365-4C09-9870-F7B65B7FE39F}"/>
              </a:ext>
            </a:extLst>
          </p:cNvPr>
          <p:cNvSpPr>
            <a:spLocks noGrp="1"/>
          </p:cNvSpPr>
          <p:nvPr/>
        </p:nvSpPr>
        <p:spPr>
          <a:xfrm>
            <a:off x="11877675" y="6048375"/>
            <a:ext cx="2571750" cy="333375"/>
          </a:xfrm>
          <a:prstGeom prst="rect">
            <a:avLst/>
          </a:prstGeom>
          <a:noFill/>
          <a:ln w="0">
            <a:noFill/>
          </a:ln>
        </p:spPr>
        <p:txBody>
          <a:bodyPr>
            <a:noAutofit/>
          </a:bodyPr>
          <a:lstStyle/>
          <a:p>
            <a:pPr>
              <a:defRPr sz="1575">
                <a:solidFill>
                  <a:srgbClr val="3A332B"/>
                </a:solidFill>
                <a:latin typeface="Plus Jakarta Sans"/>
                <a:ea typeface="Plus Jakarta Sans"/>
                <a:cs typeface="Plus Jakarta Sans"/>
              </a:defRPr>
            </a:pPr>
            <a:r>
              <a:rPr sz="1575">
                <a:solidFill>
                  <a:srgbClr val="3A332B"/>
                </a:solidFill>
                <a:latin typeface="Plus Jakarta Sans"/>
                <a:ea typeface="Plus Jakarta Sans"/>
                <a:cs typeface="Plus Jakarta Sans"/>
              </a:rPr>
              <a:t>SHADOW</a:t>
            </a:r>
          </a:p>
        </p:txBody>
      </p:sp>
      <p:sp>
        <p:nvSpPr>
          <p:cNvPr id="22" name="Rectangle 21">
            <a:extLst>
              <a:ext uri="{FF2B5EF4-FFF2-40B4-BE49-F238E27FC236}">
                <a16:creationId xmlns:a16="http://schemas.microsoft.com/office/drawing/2014/main" id="{988DB082-F650-4833-A9CE-FFE10B10143B}"/>
              </a:ext>
            </a:extLst>
          </p:cNvPr>
          <p:cNvSpPr>
            <a:spLocks noGrp="1"/>
          </p:cNvSpPr>
          <p:nvPr/>
        </p:nvSpPr>
        <p:spPr>
          <a:xfrm>
            <a:off x="11877675" y="6524625"/>
            <a:ext cx="2571750" cy="333375"/>
          </a:xfrm>
          <a:prstGeom prst="rect">
            <a:avLst/>
          </a:prstGeom>
          <a:noFill/>
          <a:ln w="0">
            <a:noFill/>
          </a:ln>
        </p:spPr>
        <p:txBody>
          <a:bodyPr>
            <a:noAutofit/>
          </a:bodyPr>
          <a:lstStyle/>
          <a:p>
            <a:pPr>
              <a:defRPr sz="1650">
                <a:solidFill>
                  <a:srgbClr val="3A332B"/>
                </a:solidFill>
                <a:latin typeface="Plus Jakarta Sans"/>
                <a:ea typeface="Plus Jakarta Sans"/>
                <a:cs typeface="Plus Jakarta Sans"/>
              </a:defRPr>
            </a:pPr>
            <a:r>
              <a:rPr sz="1650">
                <a:solidFill>
                  <a:srgbClr val="3A332B"/>
                </a:solidFill>
                <a:latin typeface="Plus Jakarta Sans"/>
                <a:ea typeface="Plus Jakarta Sans"/>
                <a:cs typeface="Plus Jakarta Sans"/>
              </a:rPr>
              <a:t>#1B1B1B</a:t>
            </a:r>
          </a:p>
        </p:txBody>
      </p:sp>
      <p:sp>
        <p:nvSpPr>
          <p:cNvPr id="23" name="Rectangle 22">
            <a:extLst>
              <a:ext uri="{FF2B5EF4-FFF2-40B4-BE49-F238E27FC236}">
                <a16:creationId xmlns:a16="http://schemas.microsoft.com/office/drawing/2014/main" id="{C0B68932-488C-4092-ADA4-886EBB1B914F}"/>
              </a:ext>
            </a:extLst>
          </p:cNvPr>
          <p:cNvSpPr>
            <a:spLocks noGrp="1"/>
          </p:cNvSpPr>
          <p:nvPr/>
        </p:nvSpPr>
        <p:spPr>
          <a:xfrm>
            <a:off x="11877675" y="7048500"/>
            <a:ext cx="2667000" cy="666750"/>
          </a:xfrm>
          <a:prstGeom prst="rect">
            <a:avLst/>
          </a:prstGeom>
          <a:noFill/>
          <a:ln w="0">
            <a:noFill/>
          </a:ln>
        </p:spPr>
        <p:txBody>
          <a:bodyPr>
            <a:noAutofit/>
          </a:bodyPr>
          <a:lstStyle/>
          <a:p>
            <a:pPr>
              <a:defRPr sz="1350">
                <a:solidFill>
                  <a:srgbClr val="3A332B"/>
                </a:solidFill>
                <a:latin typeface="Plus Jakarta Sans"/>
                <a:ea typeface="Plus Jakarta Sans"/>
                <a:cs typeface="Plus Jakarta Sans"/>
              </a:defRPr>
            </a:pPr>
            <a:r>
              <a:rPr sz="1350">
                <a:solidFill>
                  <a:srgbClr val="3A332B"/>
                </a:solidFill>
                <a:latin typeface="Plus Jakarta Sans"/>
                <a:ea typeface="Plus Jakarta Sans"/>
                <a:cs typeface="Plus Jakarta Sans"/>
              </a:rPr>
              <a:t>Deep contrast</a:t>
            </a:r>
          </a:p>
        </p:txBody>
      </p:sp>
    </p:spTree>
    <p:extLst>
      <p:ext uri="{BB962C8B-B14F-4D97-AF65-F5344CB8AC3E}">
        <p14:creationId xmlns:p14="http://schemas.microsoft.com/office/powerpoint/2010/main" val="975991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D2F1882-C3F6-4095-8787-DD1E899963C2}"/>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TYPOGRAPHY</a:t>
            </a:r>
          </a:p>
        </p:txBody>
      </p:sp>
      <p:sp>
        <p:nvSpPr>
          <p:cNvPr id="2" name="Rectangle 1">
            <a:extLst>
              <a:ext uri="{FF2B5EF4-FFF2-40B4-BE49-F238E27FC236}">
                <a16:creationId xmlns:a16="http://schemas.microsoft.com/office/drawing/2014/main" id="{940E74B3-1971-4C05-90F6-80B52977E8E5}"/>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09</a:t>
            </a:r>
          </a:p>
        </p:txBody>
      </p:sp>
      <p:sp>
        <p:nvSpPr>
          <p:cNvPr id="3" name="Rectangle 2">
            <a:extLst>
              <a:ext uri="{FF2B5EF4-FFF2-40B4-BE49-F238E27FC236}">
                <a16:creationId xmlns:a16="http://schemas.microsoft.com/office/drawing/2014/main" id="{47B0FE49-6B83-4CBF-AE5F-8C208DE90A48}"/>
              </a:ext>
            </a:extLst>
          </p:cNvPr>
          <p:cNvSpPr>
            <a:spLocks noGrp="1"/>
          </p:cNvSpPr>
          <p:nvPr/>
        </p:nvSpPr>
        <p:spPr>
          <a:xfrm>
            <a:off x="714375" y="1285875"/>
            <a:ext cx="12382500" cy="1333500"/>
          </a:xfrm>
          <a:prstGeom prst="rect">
            <a:avLst/>
          </a:prstGeom>
          <a:noFill/>
          <a:ln w="0">
            <a:noFill/>
          </a:ln>
        </p:spPr>
        <p:txBody>
          <a:bodyPr>
            <a:noAutofit/>
          </a:bodyPr>
          <a:lstStyle/>
          <a:p>
            <a:pPr>
              <a:defRPr sz="6450">
                <a:solidFill>
                  <a:srgbClr val="3A332B"/>
                </a:solidFill>
                <a:latin typeface="Playfair Display"/>
                <a:ea typeface="Playfair Display"/>
                <a:cs typeface="Playfair Display"/>
              </a:defRPr>
            </a:pPr>
            <a:r>
              <a:rPr sz="6450">
                <a:solidFill>
                  <a:srgbClr val="3A332B"/>
                </a:solidFill>
                <a:latin typeface="Playfair Display"/>
                <a:ea typeface="Playfair Display"/>
                <a:cs typeface="Playfair Display"/>
              </a:rPr>
              <a:t>Words with space</a:t>
            </a:r>
          </a:p>
        </p:txBody>
      </p:sp>
      <p:sp>
        <p:nvSpPr>
          <p:cNvPr id="4" name="Rectangle 3">
            <a:extLst>
              <a:ext uri="{FF2B5EF4-FFF2-40B4-BE49-F238E27FC236}">
                <a16:creationId xmlns:a16="http://schemas.microsoft.com/office/drawing/2014/main" id="{E5C55AE4-6C7E-41DF-817E-F2907EE72DA9}"/>
              </a:ext>
            </a:extLst>
          </p:cNvPr>
          <p:cNvSpPr>
            <a:spLocks noGrp="1"/>
          </p:cNvSpPr>
          <p:nvPr/>
        </p:nvSpPr>
        <p:spPr>
          <a:xfrm>
            <a:off x="762000" y="3238500"/>
            <a:ext cx="6191250" cy="1905000"/>
          </a:xfrm>
          <a:prstGeom prst="rect">
            <a:avLst/>
          </a:prstGeom>
          <a:noFill/>
          <a:ln w="0">
            <a:noFill/>
          </a:ln>
        </p:spPr>
        <p:txBody>
          <a:bodyPr>
            <a:noAutofit/>
          </a:bodyPr>
          <a:lstStyle/>
          <a:p>
            <a:pPr>
              <a:defRPr sz="12375">
                <a:solidFill>
                  <a:srgbClr val="3A332B"/>
                </a:solidFill>
                <a:latin typeface="Playfair Display"/>
                <a:ea typeface="Playfair Display"/>
                <a:cs typeface="Playfair Display"/>
              </a:defRPr>
            </a:pPr>
            <a:r>
              <a:rPr sz="12375">
                <a:solidFill>
                  <a:srgbClr val="3A332B"/>
                </a:solidFill>
                <a:latin typeface="Playfair Display"/>
                <a:ea typeface="Playfair Display"/>
                <a:cs typeface="Playfair Display"/>
              </a:rPr>
              <a:t>Aa</a:t>
            </a:r>
          </a:p>
        </p:txBody>
      </p:sp>
      <p:sp>
        <p:nvSpPr>
          <p:cNvPr id="5" name="Rectangle 4">
            <a:extLst>
              <a:ext uri="{FF2B5EF4-FFF2-40B4-BE49-F238E27FC236}">
                <a16:creationId xmlns:a16="http://schemas.microsoft.com/office/drawing/2014/main" id="{497DF3CA-B903-4305-8AB3-288F0BF53C92}"/>
              </a:ext>
            </a:extLst>
          </p:cNvPr>
          <p:cNvSpPr>
            <a:spLocks noGrp="1"/>
          </p:cNvSpPr>
          <p:nvPr/>
        </p:nvSpPr>
        <p:spPr>
          <a:xfrm>
            <a:off x="809625" y="5524500"/>
            <a:ext cx="5715000" cy="571500"/>
          </a:xfrm>
          <a:prstGeom prst="rect">
            <a:avLst/>
          </a:prstGeom>
          <a:noFill/>
          <a:ln w="0">
            <a:noFill/>
          </a:ln>
        </p:spPr>
        <p:txBody>
          <a:bodyPr>
            <a:noAutofit/>
          </a:bodyPr>
          <a:lstStyle/>
          <a:p>
            <a:pPr>
              <a:defRPr sz="2550">
                <a:solidFill>
                  <a:srgbClr val="3A332B"/>
                </a:solidFill>
                <a:latin typeface="Playfair Display"/>
                <a:ea typeface="Playfair Display"/>
                <a:cs typeface="Playfair Display"/>
              </a:defRPr>
            </a:pPr>
            <a:r>
              <a:rPr sz="2550">
                <a:solidFill>
                  <a:srgbClr val="3A332B"/>
                </a:solidFill>
                <a:latin typeface="Playfair Display"/>
                <a:ea typeface="Playfair Display"/>
                <a:cs typeface="Playfair Display"/>
              </a:rPr>
              <a:t>Playfair Display</a:t>
            </a:r>
          </a:p>
        </p:txBody>
      </p:sp>
      <p:sp>
        <p:nvSpPr>
          <p:cNvPr id="6" name="Rectangle 5">
            <a:extLst>
              <a:ext uri="{FF2B5EF4-FFF2-40B4-BE49-F238E27FC236}">
                <a16:creationId xmlns:a16="http://schemas.microsoft.com/office/drawing/2014/main" id="{18A501C5-AD31-4D70-B874-C53C1FB1546D}"/>
              </a:ext>
            </a:extLst>
          </p:cNvPr>
          <p:cNvSpPr>
            <a:spLocks noGrp="1"/>
          </p:cNvSpPr>
          <p:nvPr/>
        </p:nvSpPr>
        <p:spPr>
          <a:xfrm>
            <a:off x="809625" y="6477000"/>
            <a:ext cx="6096000" cy="1238250"/>
          </a:xfrm>
          <a:prstGeom prst="rect">
            <a:avLst/>
          </a:prstGeom>
          <a:noFill/>
          <a:ln w="0">
            <a:noFill/>
          </a:ln>
        </p:spPr>
        <p:txBody>
          <a:bodyPr>
            <a:noAutofit/>
          </a:bodyPr>
          <a:lstStyle/>
          <a:p>
            <a:pPr>
              <a:defRPr sz="1725">
                <a:solidFill>
                  <a:srgbClr val="3A332B"/>
                </a:solidFill>
                <a:latin typeface="Plus Jakarta Sans"/>
                <a:ea typeface="Plus Jakarta Sans"/>
                <a:cs typeface="Plus Jakarta Sans"/>
              </a:defRPr>
            </a:pPr>
            <a:r>
              <a:rPr sz="1725">
                <a:solidFill>
                  <a:srgbClr val="3A332B"/>
                </a:solidFill>
                <a:latin typeface="Plus Jakarta Sans"/>
                <a:ea typeface="Plus Jakarta Sans"/>
                <a:cs typeface="Plus Jakarta Sans"/>
              </a:rPr>
              <a:t>Editorial headlines and quiet, expressive statements.</a:t>
            </a:r>
          </a:p>
          <a:p>
            <a:pPr>
              <a:defRPr sz="1725">
                <a:solidFill>
                  <a:srgbClr val="3A332B"/>
                </a:solidFill>
                <a:latin typeface="Plus Jakarta Sans"/>
                <a:ea typeface="Plus Jakarta Sans"/>
                <a:cs typeface="Plus Jakarta Sans"/>
              </a:defRPr>
            </a:pPr>
            <a:r>
              <a:rPr sz="1725">
                <a:solidFill>
                  <a:srgbClr val="3A332B"/>
                </a:solidFill>
                <a:latin typeface="Plus Jakarta Sans"/>
                <a:ea typeface="Plus Jakarta Sans"/>
                <a:cs typeface="Plus Jakarta Sans"/>
              </a:rPr>
              <a:t>Regular weight. Generous scale. Natural line breaks.</a:t>
            </a:r>
          </a:p>
        </p:txBody>
      </p:sp>
      <p:sp>
        <p:nvSpPr>
          <p:cNvPr id="7" name="Rectangle 6">
            <a:extLst>
              <a:ext uri="{FF2B5EF4-FFF2-40B4-BE49-F238E27FC236}">
                <a16:creationId xmlns:a16="http://schemas.microsoft.com/office/drawing/2014/main" id="{BDBA4D98-3C01-4061-A9F6-865F8204DC48}"/>
              </a:ext>
            </a:extLst>
          </p:cNvPr>
          <p:cNvSpPr>
            <a:spLocks noGrp="1"/>
          </p:cNvSpPr>
          <p:nvPr/>
        </p:nvSpPr>
        <p:spPr>
          <a:xfrm>
            <a:off x="8477250" y="3190875"/>
            <a:ext cx="6191250" cy="2000250"/>
          </a:xfrm>
          <a:prstGeom prst="rect">
            <a:avLst/>
          </a:prstGeom>
          <a:noFill/>
          <a:ln w="0">
            <a:noFill/>
          </a:ln>
        </p:spPr>
        <p:txBody>
          <a:bodyPr>
            <a:noAutofit/>
          </a:bodyPr>
          <a:lstStyle/>
          <a:p>
            <a:pPr>
              <a:defRPr sz="12750">
                <a:solidFill>
                  <a:srgbClr val="3A332B"/>
                </a:solidFill>
                <a:latin typeface="Plus Jakarta Sans"/>
                <a:ea typeface="Plus Jakarta Sans"/>
                <a:cs typeface="Plus Jakarta Sans"/>
              </a:defRPr>
            </a:pPr>
            <a:r>
              <a:rPr sz="12750">
                <a:solidFill>
                  <a:srgbClr val="3A332B"/>
                </a:solidFill>
                <a:latin typeface="Plus Jakarta Sans"/>
                <a:ea typeface="Plus Jakarta Sans"/>
                <a:cs typeface="Plus Jakarta Sans"/>
              </a:rPr>
              <a:t>Aa</a:t>
            </a:r>
          </a:p>
        </p:txBody>
      </p:sp>
      <p:sp>
        <p:nvSpPr>
          <p:cNvPr id="8" name="Rectangle 7">
            <a:extLst>
              <a:ext uri="{FF2B5EF4-FFF2-40B4-BE49-F238E27FC236}">
                <a16:creationId xmlns:a16="http://schemas.microsoft.com/office/drawing/2014/main" id="{2AB0E3D4-7E6D-4C88-AF5F-42DE37961881}"/>
              </a:ext>
            </a:extLst>
          </p:cNvPr>
          <p:cNvSpPr>
            <a:spLocks noGrp="1"/>
          </p:cNvSpPr>
          <p:nvPr/>
        </p:nvSpPr>
        <p:spPr>
          <a:xfrm>
            <a:off x="8524875" y="5524500"/>
            <a:ext cx="6000750" cy="571500"/>
          </a:xfrm>
          <a:prstGeom prst="rect">
            <a:avLst/>
          </a:prstGeom>
          <a:noFill/>
          <a:ln w="0">
            <a:noFill/>
          </a:ln>
        </p:spPr>
        <p:txBody>
          <a:bodyPr>
            <a:noAutofit/>
          </a:bodyPr>
          <a:lstStyle/>
          <a:p>
            <a:pPr>
              <a:defRPr sz="2550">
                <a:solidFill>
                  <a:srgbClr val="3A332B"/>
                </a:solidFill>
                <a:latin typeface="Plus Jakarta Sans"/>
                <a:ea typeface="Plus Jakarta Sans"/>
                <a:cs typeface="Plus Jakarta Sans"/>
              </a:defRPr>
            </a:pPr>
            <a:r>
              <a:rPr sz="2550">
                <a:solidFill>
                  <a:srgbClr val="3A332B"/>
                </a:solidFill>
                <a:latin typeface="Plus Jakarta Sans"/>
                <a:ea typeface="Plus Jakarta Sans"/>
                <a:cs typeface="Plus Jakarta Sans"/>
              </a:rPr>
              <a:t>Plus Jakarta Sans</a:t>
            </a:r>
          </a:p>
        </p:txBody>
      </p:sp>
      <p:sp>
        <p:nvSpPr>
          <p:cNvPr id="9" name="Rectangle 8">
            <a:extLst>
              <a:ext uri="{FF2B5EF4-FFF2-40B4-BE49-F238E27FC236}">
                <a16:creationId xmlns:a16="http://schemas.microsoft.com/office/drawing/2014/main" id="{C2C9411D-2717-4890-8084-093FACDD383F}"/>
              </a:ext>
            </a:extLst>
          </p:cNvPr>
          <p:cNvSpPr>
            <a:spLocks noGrp="1"/>
          </p:cNvSpPr>
          <p:nvPr/>
        </p:nvSpPr>
        <p:spPr>
          <a:xfrm>
            <a:off x="8524875" y="6477000"/>
            <a:ext cx="5810250" cy="1238250"/>
          </a:xfrm>
          <a:prstGeom prst="rect">
            <a:avLst/>
          </a:prstGeom>
          <a:noFill/>
          <a:ln w="0">
            <a:noFill/>
          </a:ln>
        </p:spPr>
        <p:txBody>
          <a:bodyPr>
            <a:noAutofit/>
          </a:bodyPr>
          <a:lstStyle/>
          <a:p>
            <a:pPr>
              <a:defRPr sz="1725">
                <a:solidFill>
                  <a:srgbClr val="3A332B"/>
                </a:solidFill>
                <a:latin typeface="Plus Jakarta Sans"/>
                <a:ea typeface="Plus Jakarta Sans"/>
                <a:cs typeface="Plus Jakarta Sans"/>
              </a:defRPr>
            </a:pPr>
            <a:r>
              <a:rPr sz="1725">
                <a:solidFill>
                  <a:srgbClr val="3A332B"/>
                </a:solidFill>
                <a:latin typeface="Plus Jakarta Sans"/>
                <a:ea typeface="Plus Jakarta Sans"/>
                <a:cs typeface="Plus Jakarta Sans"/>
              </a:rPr>
              <a:t>Navigation, body copy and practical information.</a:t>
            </a:r>
          </a:p>
          <a:p>
            <a:pPr>
              <a:defRPr sz="1725">
                <a:solidFill>
                  <a:srgbClr val="3A332B"/>
                </a:solidFill>
                <a:latin typeface="Plus Jakarta Sans"/>
                <a:ea typeface="Plus Jakarta Sans"/>
                <a:cs typeface="Plus Jakarta Sans"/>
              </a:defRPr>
            </a:pPr>
            <a:r>
              <a:rPr sz="1725">
                <a:solidFill>
                  <a:srgbClr val="3A332B"/>
                </a:solidFill>
                <a:latin typeface="Plus Jakarta Sans"/>
                <a:ea typeface="Plus Jakarta Sans"/>
                <a:cs typeface="Plus Jakarta Sans"/>
              </a:rPr>
              <a:t>Clear hierarchy. Comfortable reading. Calm rhythm.</a:t>
            </a:r>
          </a:p>
        </p:txBody>
      </p:sp>
    </p:spTree>
    <p:extLst>
      <p:ext uri="{BB962C8B-B14F-4D97-AF65-F5344CB8AC3E}">
        <p14:creationId xmlns:p14="http://schemas.microsoft.com/office/powerpoint/2010/main" val="1373518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DDCAA-E481-41BB-B9EC-0BDDF6FDC31B}"/>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BRAND IMAGERY</a:t>
            </a:r>
          </a:p>
        </p:txBody>
      </p:sp>
      <p:sp>
        <p:nvSpPr>
          <p:cNvPr id="2" name="Rectangle 1">
            <a:extLst>
              <a:ext uri="{FF2B5EF4-FFF2-40B4-BE49-F238E27FC236}">
                <a16:creationId xmlns:a16="http://schemas.microsoft.com/office/drawing/2014/main" id="{F6BBF3DA-636A-4D41-89A4-8BBFA2FA5AE6}"/>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10</a:t>
            </a:r>
          </a:p>
        </p:txBody>
      </p:sp>
      <p:pic>
        <p:nvPicPr>
          <p:cNvPr id="11" name="Picture 10"/>
          <p:cNvPicPr>
            <a:picLocks noChangeAspect="1"/>
          </p:cNvPicPr>
          <p:nvPr/>
        </p:nvPicPr>
        <p:blipFill>
          <a:blip r:embed="rId3"/>
          <a:srcRect t="5666" b="5666"/>
          <a:stretch>
            <a:fillRect/>
          </a:stretch>
        </p:blipFill>
        <p:spPr>
          <a:xfrm>
            <a:off x="666750" y="1524000"/>
            <a:ext cx="4429125" cy="5048250"/>
          </a:xfrm>
          <a:prstGeom prst="rect">
            <a:avLst/>
          </a:prstGeom>
        </p:spPr>
      </p:pic>
      <p:pic>
        <p:nvPicPr>
          <p:cNvPr id="12" name="Picture 11"/>
          <p:cNvPicPr>
            <a:picLocks noChangeAspect="1"/>
          </p:cNvPicPr>
          <p:nvPr/>
        </p:nvPicPr>
        <p:blipFill>
          <a:blip r:embed="rId4"/>
          <a:srcRect l="6930" r="6930"/>
          <a:stretch>
            <a:fillRect/>
          </a:stretch>
        </p:blipFill>
        <p:spPr>
          <a:xfrm>
            <a:off x="5286375" y="1524000"/>
            <a:ext cx="4429125" cy="5048250"/>
          </a:xfrm>
          <a:prstGeom prst="rect">
            <a:avLst/>
          </a:prstGeom>
        </p:spPr>
      </p:pic>
      <p:pic>
        <p:nvPicPr>
          <p:cNvPr id="13" name="Picture 12"/>
          <p:cNvPicPr>
            <a:picLocks noChangeAspect="1"/>
          </p:cNvPicPr>
          <p:nvPr/>
        </p:nvPicPr>
        <p:blipFill>
          <a:blip r:embed="rId5"/>
          <a:srcRect l="10251" r="10251"/>
          <a:stretch>
            <a:fillRect/>
          </a:stretch>
        </p:blipFill>
        <p:spPr>
          <a:xfrm>
            <a:off x="9906000" y="1524000"/>
            <a:ext cx="4667250" cy="5048250"/>
          </a:xfrm>
          <a:prstGeom prst="rect">
            <a:avLst/>
          </a:prstGeom>
        </p:spPr>
      </p:pic>
      <p:sp>
        <p:nvSpPr>
          <p:cNvPr id="6" name="Rectangle 5">
            <a:extLst>
              <a:ext uri="{FF2B5EF4-FFF2-40B4-BE49-F238E27FC236}">
                <a16:creationId xmlns:a16="http://schemas.microsoft.com/office/drawing/2014/main" id="{44C6F257-ABFF-43F3-831E-9FA563F3059D}"/>
              </a:ext>
            </a:extLst>
          </p:cNvPr>
          <p:cNvSpPr>
            <a:spLocks noGrp="1"/>
          </p:cNvSpPr>
          <p:nvPr/>
        </p:nvSpPr>
        <p:spPr>
          <a:xfrm>
            <a:off x="714375" y="6953250"/>
            <a:ext cx="4286250" cy="523875"/>
          </a:xfrm>
          <a:prstGeom prst="rect">
            <a:avLst/>
          </a:prstGeom>
          <a:noFill/>
          <a:ln w="0">
            <a:noFill/>
          </a:ln>
        </p:spPr>
        <p:txBody>
          <a:bodyPr>
            <a:noAutofit/>
          </a:bodyPr>
          <a:lstStyle/>
          <a:p>
            <a:pPr>
              <a:defRPr sz="2100">
                <a:solidFill>
                  <a:srgbClr val="3A332B"/>
                </a:solidFill>
                <a:latin typeface="Playfair Display"/>
                <a:ea typeface="Playfair Display"/>
                <a:cs typeface="Playfair Display"/>
              </a:defRPr>
            </a:pPr>
            <a:r>
              <a:rPr sz="2100">
                <a:solidFill>
                  <a:srgbClr val="3A332B"/>
                </a:solidFill>
                <a:latin typeface="Playfair Display"/>
                <a:ea typeface="Playfair Display"/>
                <a:cs typeface="Playfair Display"/>
              </a:rPr>
              <a:t>Attentive touch</a:t>
            </a:r>
          </a:p>
        </p:txBody>
      </p:sp>
      <p:sp>
        <p:nvSpPr>
          <p:cNvPr id="7" name="Rectangle 6">
            <a:extLst>
              <a:ext uri="{FF2B5EF4-FFF2-40B4-BE49-F238E27FC236}">
                <a16:creationId xmlns:a16="http://schemas.microsoft.com/office/drawing/2014/main" id="{AC48DCC0-FB33-4E83-B3F1-7984651FC508}"/>
              </a:ext>
            </a:extLst>
          </p:cNvPr>
          <p:cNvSpPr>
            <a:spLocks noGrp="1"/>
          </p:cNvSpPr>
          <p:nvPr/>
        </p:nvSpPr>
        <p:spPr>
          <a:xfrm>
            <a:off x="5334000" y="6953250"/>
            <a:ext cx="4286250" cy="523875"/>
          </a:xfrm>
          <a:prstGeom prst="rect">
            <a:avLst/>
          </a:prstGeom>
          <a:noFill/>
          <a:ln w="0">
            <a:noFill/>
          </a:ln>
        </p:spPr>
        <p:txBody>
          <a:bodyPr>
            <a:noAutofit/>
          </a:bodyPr>
          <a:lstStyle/>
          <a:p>
            <a:pPr>
              <a:defRPr sz="2100">
                <a:solidFill>
                  <a:srgbClr val="3A332B"/>
                </a:solidFill>
                <a:latin typeface="Playfair Display"/>
                <a:ea typeface="Playfair Display"/>
                <a:cs typeface="Playfair Display"/>
              </a:defRPr>
            </a:pPr>
            <a:r>
              <a:rPr sz="2100">
                <a:solidFill>
                  <a:srgbClr val="3A332B"/>
                </a:solidFill>
                <a:latin typeface="Playfair Display"/>
                <a:ea typeface="Playfair Display"/>
                <a:cs typeface="Playfair Display"/>
              </a:rPr>
              <a:t>Natural materials</a:t>
            </a:r>
          </a:p>
        </p:txBody>
      </p:sp>
      <p:sp>
        <p:nvSpPr>
          <p:cNvPr id="8" name="Rectangle 7">
            <a:extLst>
              <a:ext uri="{FF2B5EF4-FFF2-40B4-BE49-F238E27FC236}">
                <a16:creationId xmlns:a16="http://schemas.microsoft.com/office/drawing/2014/main" id="{29A325C0-E070-48C9-893F-68525295C8DB}"/>
              </a:ext>
            </a:extLst>
          </p:cNvPr>
          <p:cNvSpPr>
            <a:spLocks noGrp="1"/>
          </p:cNvSpPr>
          <p:nvPr/>
        </p:nvSpPr>
        <p:spPr>
          <a:xfrm>
            <a:off x="9953625" y="6953250"/>
            <a:ext cx="4286250" cy="523875"/>
          </a:xfrm>
          <a:prstGeom prst="rect">
            <a:avLst/>
          </a:prstGeom>
          <a:noFill/>
          <a:ln w="0">
            <a:noFill/>
          </a:ln>
        </p:spPr>
        <p:txBody>
          <a:bodyPr>
            <a:noAutofit/>
          </a:bodyPr>
          <a:lstStyle/>
          <a:p>
            <a:pPr>
              <a:defRPr sz="2100">
                <a:solidFill>
                  <a:srgbClr val="3A332B"/>
                </a:solidFill>
                <a:latin typeface="Playfair Display"/>
                <a:ea typeface="Playfair Display"/>
                <a:cs typeface="Playfair Display"/>
              </a:defRPr>
            </a:pPr>
            <a:r>
              <a:rPr sz="2100">
                <a:solidFill>
                  <a:srgbClr val="3A332B"/>
                </a:solidFill>
                <a:latin typeface="Playfair Display"/>
                <a:ea typeface="Playfair Display"/>
                <a:cs typeface="Playfair Display"/>
              </a:rPr>
              <a:t>Light and texture</a:t>
            </a:r>
          </a:p>
        </p:txBody>
      </p:sp>
    </p:spTree>
    <p:extLst>
      <p:ext uri="{BB962C8B-B14F-4D97-AF65-F5344CB8AC3E}">
        <p14:creationId xmlns:p14="http://schemas.microsoft.com/office/powerpoint/2010/main" val="773849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637A0B-1A23-4276-967C-430967F9D685}"/>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VOICE</a:t>
            </a:r>
          </a:p>
        </p:txBody>
      </p:sp>
      <p:sp>
        <p:nvSpPr>
          <p:cNvPr id="2" name="Rectangle 1">
            <a:extLst>
              <a:ext uri="{FF2B5EF4-FFF2-40B4-BE49-F238E27FC236}">
                <a16:creationId xmlns:a16="http://schemas.microsoft.com/office/drawing/2014/main" id="{AC15887D-AB7D-4BC3-9D16-CBA01729D20E}"/>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11</a:t>
            </a:r>
          </a:p>
        </p:txBody>
      </p:sp>
      <p:sp>
        <p:nvSpPr>
          <p:cNvPr id="3" name="Rectangle 2">
            <a:extLst>
              <a:ext uri="{FF2B5EF4-FFF2-40B4-BE49-F238E27FC236}">
                <a16:creationId xmlns:a16="http://schemas.microsoft.com/office/drawing/2014/main" id="{1D9FD122-49F8-4C5D-816F-832C4506F7A7}"/>
              </a:ext>
            </a:extLst>
          </p:cNvPr>
          <p:cNvSpPr>
            <a:spLocks noGrp="1"/>
          </p:cNvSpPr>
          <p:nvPr/>
        </p:nvSpPr>
        <p:spPr>
          <a:xfrm>
            <a:off x="714375" y="1571625"/>
            <a:ext cx="6667500" cy="2857500"/>
          </a:xfrm>
          <a:prstGeom prst="rect">
            <a:avLst/>
          </a:prstGeom>
          <a:noFill/>
          <a:ln w="0">
            <a:noFill/>
          </a:ln>
        </p:spPr>
        <p:txBody>
          <a:bodyPr>
            <a:noAutofit/>
          </a:bodyPr>
          <a:lstStyle/>
          <a:p>
            <a:pPr>
              <a:defRPr sz="7200">
                <a:solidFill>
                  <a:srgbClr val="3A332B"/>
                </a:solidFill>
                <a:latin typeface="Playfair Display"/>
                <a:ea typeface="Playfair Display"/>
                <a:cs typeface="Playfair Display"/>
              </a:defRPr>
            </a:pPr>
            <a:r>
              <a:rPr sz="7200">
                <a:solidFill>
                  <a:srgbClr val="3A332B"/>
                </a:solidFill>
                <a:latin typeface="Playfair Display"/>
                <a:ea typeface="Playfair Display"/>
                <a:cs typeface="Playfair Display"/>
              </a:rPr>
              <a:t>A quieter kind</a:t>
            </a:r>
          </a:p>
          <a:p>
            <a:pPr>
              <a:defRPr sz="7200">
                <a:solidFill>
                  <a:srgbClr val="3A332B"/>
                </a:solidFill>
                <a:latin typeface="Playfair Display"/>
                <a:ea typeface="Playfair Display"/>
                <a:cs typeface="Playfair Display"/>
              </a:defRPr>
            </a:pPr>
            <a:r>
              <a:rPr sz="7200">
                <a:solidFill>
                  <a:srgbClr val="3A332B"/>
                </a:solidFill>
                <a:latin typeface="Playfair Display"/>
                <a:ea typeface="Playfair Display"/>
                <a:cs typeface="Playfair Display"/>
              </a:rPr>
              <a:t>of welcome</a:t>
            </a:r>
          </a:p>
        </p:txBody>
      </p:sp>
      <p:sp>
        <p:nvSpPr>
          <p:cNvPr id="4" name="Rectangle 3">
            <a:extLst>
              <a:ext uri="{FF2B5EF4-FFF2-40B4-BE49-F238E27FC236}">
                <a16:creationId xmlns:a16="http://schemas.microsoft.com/office/drawing/2014/main" id="{EECA2783-4CF8-4E23-BD28-58DBCF84C4E4}"/>
              </a:ext>
            </a:extLst>
          </p:cNvPr>
          <p:cNvSpPr>
            <a:spLocks noGrp="1"/>
          </p:cNvSpPr>
          <p:nvPr/>
        </p:nvSpPr>
        <p:spPr>
          <a:xfrm>
            <a:off x="762000" y="5715000"/>
            <a:ext cx="6572250" cy="1238250"/>
          </a:xfrm>
          <a:prstGeom prst="rect">
            <a:avLst/>
          </a:prstGeom>
          <a:noFill/>
          <a:ln w="0">
            <a:noFill/>
          </a:ln>
        </p:spPr>
        <p:txBody>
          <a:bodyPr>
            <a:noAutofit/>
          </a:bodyPr>
          <a:lstStyle/>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Warm and personal. Clear about the details.</a:t>
            </a:r>
          </a:p>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Give people room to choose their own pace.</a:t>
            </a:r>
          </a:p>
        </p:txBody>
      </p:sp>
      <p:sp>
        <p:nvSpPr>
          <p:cNvPr id="5" name="Rectangle 4">
            <a:extLst>
              <a:ext uri="{FF2B5EF4-FFF2-40B4-BE49-F238E27FC236}">
                <a16:creationId xmlns:a16="http://schemas.microsoft.com/office/drawing/2014/main" id="{20F8B223-E773-4758-9B74-A597E5AC637F}"/>
              </a:ext>
            </a:extLst>
          </p:cNvPr>
          <p:cNvSpPr>
            <a:spLocks noGrp="1"/>
          </p:cNvSpPr>
          <p:nvPr/>
        </p:nvSpPr>
        <p:spPr>
          <a:xfrm>
            <a:off x="8858250" y="1762125"/>
            <a:ext cx="5238750" cy="333375"/>
          </a:xfrm>
          <a:prstGeom prst="rect">
            <a:avLst/>
          </a:prstGeom>
          <a:noFill/>
          <a:ln w="0">
            <a:noFill/>
          </a:ln>
        </p:spPr>
        <p:txBody>
          <a:bodyPr>
            <a:noAutofit/>
          </a:bodyPr>
          <a:lstStyle/>
          <a:p>
            <a:pPr>
              <a:defRPr sz="1200">
                <a:solidFill>
                  <a:srgbClr val="3A332B"/>
                </a:solidFill>
                <a:latin typeface="Plus Jakarta Sans"/>
                <a:ea typeface="Plus Jakarta Sans"/>
                <a:cs typeface="Plus Jakarta Sans"/>
              </a:defRPr>
            </a:pPr>
            <a:r>
              <a:rPr sz="1200">
                <a:solidFill>
                  <a:srgbClr val="3A332B"/>
                </a:solidFill>
                <a:latin typeface="Plus Jakarta Sans"/>
                <a:ea typeface="Plus Jakarta Sans"/>
                <a:cs typeface="Plus Jakarta Sans"/>
              </a:rPr>
              <a:t>GERMAN</a:t>
            </a:r>
          </a:p>
        </p:txBody>
      </p:sp>
      <p:sp>
        <p:nvSpPr>
          <p:cNvPr id="6" name="Rectangle 5">
            <a:extLst>
              <a:ext uri="{FF2B5EF4-FFF2-40B4-BE49-F238E27FC236}">
                <a16:creationId xmlns:a16="http://schemas.microsoft.com/office/drawing/2014/main" id="{E8C6B33E-E044-45E5-A022-05712A926418}"/>
              </a:ext>
            </a:extLst>
          </p:cNvPr>
          <p:cNvSpPr>
            <a:spLocks noGrp="1"/>
          </p:cNvSpPr>
          <p:nvPr/>
        </p:nvSpPr>
        <p:spPr>
          <a:xfrm>
            <a:off x="8810625" y="2428875"/>
            <a:ext cx="5905500" cy="2095500"/>
          </a:xfrm>
          <a:prstGeom prst="rect">
            <a:avLst/>
          </a:prstGeom>
          <a:noFill/>
          <a:ln w="0">
            <a:noFill/>
          </a:ln>
        </p:spPr>
        <p:txBody>
          <a:bodyPr>
            <a:noAutofit/>
          </a:bodyPr>
          <a:lstStyle/>
          <a:p>
            <a:pPr>
              <a:defRPr sz="4125">
                <a:solidFill>
                  <a:srgbClr val="3A332B"/>
                </a:solidFill>
                <a:latin typeface="Playfair Display"/>
                <a:ea typeface="Playfair Display"/>
                <a:cs typeface="Playfair Display"/>
              </a:defRPr>
            </a:pPr>
            <a:r>
              <a:rPr sz="4125">
                <a:solidFill>
                  <a:srgbClr val="3A332B"/>
                </a:solidFill>
                <a:latin typeface="Playfair Display"/>
                <a:ea typeface="Playfair Display"/>
                <a:cs typeface="Playfair Display"/>
              </a:rPr>
              <a:t>Langsamer werden.</a:t>
            </a:r>
          </a:p>
          <a:p>
            <a:pPr>
              <a:defRPr sz="4125">
                <a:solidFill>
                  <a:srgbClr val="3A332B"/>
                </a:solidFill>
                <a:latin typeface="Playfair Display"/>
                <a:ea typeface="Playfair Display"/>
                <a:cs typeface="Playfair Display"/>
              </a:defRPr>
            </a:pPr>
            <a:r>
              <a:rPr sz="4125">
                <a:solidFill>
                  <a:srgbClr val="3A332B"/>
                </a:solidFill>
                <a:latin typeface="Playfair Display"/>
                <a:ea typeface="Playfair Display"/>
                <a:cs typeface="Playfair Display"/>
              </a:rPr>
              <a:t>Bei dir ankommen.</a:t>
            </a:r>
          </a:p>
        </p:txBody>
      </p:sp>
      <p:sp>
        <p:nvSpPr>
          <p:cNvPr id="7" name="Rectangle 6">
            <a:extLst>
              <a:ext uri="{FF2B5EF4-FFF2-40B4-BE49-F238E27FC236}">
                <a16:creationId xmlns:a16="http://schemas.microsoft.com/office/drawing/2014/main" id="{A15206AF-63E4-437D-90B9-67CBBD890222}"/>
              </a:ext>
            </a:extLst>
          </p:cNvPr>
          <p:cNvSpPr>
            <a:spLocks noGrp="1"/>
          </p:cNvSpPr>
          <p:nvPr/>
        </p:nvSpPr>
        <p:spPr>
          <a:xfrm>
            <a:off x="8858250" y="5286375"/>
            <a:ext cx="5238750" cy="333375"/>
          </a:xfrm>
          <a:prstGeom prst="rect">
            <a:avLst/>
          </a:prstGeom>
          <a:noFill/>
          <a:ln w="0">
            <a:noFill/>
          </a:ln>
        </p:spPr>
        <p:txBody>
          <a:bodyPr>
            <a:noAutofit/>
          </a:bodyPr>
          <a:lstStyle/>
          <a:p>
            <a:pPr>
              <a:defRPr sz="1200">
                <a:solidFill>
                  <a:srgbClr val="3A332B"/>
                </a:solidFill>
                <a:latin typeface="Plus Jakarta Sans"/>
                <a:ea typeface="Plus Jakarta Sans"/>
                <a:cs typeface="Plus Jakarta Sans"/>
              </a:defRPr>
            </a:pPr>
            <a:r>
              <a:rPr sz="1200">
                <a:solidFill>
                  <a:srgbClr val="3A332B"/>
                </a:solidFill>
                <a:latin typeface="Plus Jakarta Sans"/>
                <a:ea typeface="Plus Jakarta Sans"/>
                <a:cs typeface="Plus Jakarta Sans"/>
              </a:rPr>
              <a:t>ENGLISH</a:t>
            </a:r>
          </a:p>
        </p:txBody>
      </p:sp>
      <p:sp>
        <p:nvSpPr>
          <p:cNvPr id="8" name="Rectangle 7">
            <a:extLst>
              <a:ext uri="{FF2B5EF4-FFF2-40B4-BE49-F238E27FC236}">
                <a16:creationId xmlns:a16="http://schemas.microsoft.com/office/drawing/2014/main" id="{A9A9DCBD-357A-4B90-9612-F4740A84A5EE}"/>
              </a:ext>
            </a:extLst>
          </p:cNvPr>
          <p:cNvSpPr>
            <a:spLocks noGrp="1"/>
          </p:cNvSpPr>
          <p:nvPr/>
        </p:nvSpPr>
        <p:spPr>
          <a:xfrm>
            <a:off x="8810625" y="5810250"/>
            <a:ext cx="5905500" cy="1524000"/>
          </a:xfrm>
          <a:prstGeom prst="rect">
            <a:avLst/>
          </a:prstGeom>
          <a:noFill/>
          <a:ln w="0">
            <a:noFill/>
          </a:ln>
        </p:spPr>
        <p:txBody>
          <a:bodyPr>
            <a:noAutofit/>
          </a:bodyPr>
          <a:lstStyle/>
          <a:p>
            <a:pPr>
              <a:defRPr sz="4125">
                <a:solidFill>
                  <a:srgbClr val="3A332B"/>
                </a:solidFill>
                <a:latin typeface="Playfair Display"/>
                <a:ea typeface="Playfair Display"/>
                <a:cs typeface="Playfair Display"/>
              </a:defRPr>
            </a:pPr>
            <a:r>
              <a:rPr sz="4125">
                <a:solidFill>
                  <a:srgbClr val="3A332B"/>
                </a:solidFill>
                <a:latin typeface="Playfair Display"/>
                <a:ea typeface="Playfair Display"/>
                <a:cs typeface="Playfair Display"/>
              </a:rPr>
              <a:t>Slower days.</a:t>
            </a:r>
          </a:p>
          <a:p>
            <a:pPr>
              <a:defRPr sz="4125">
                <a:solidFill>
                  <a:srgbClr val="3A332B"/>
                </a:solidFill>
                <a:latin typeface="Playfair Display"/>
                <a:ea typeface="Playfair Display"/>
                <a:cs typeface="Playfair Display"/>
              </a:defRPr>
            </a:pPr>
            <a:r>
              <a:rPr sz="4125">
                <a:solidFill>
                  <a:srgbClr val="3A332B"/>
                </a:solidFill>
                <a:latin typeface="Playfair Display"/>
                <a:ea typeface="Playfair Display"/>
                <a:cs typeface="Playfair Display"/>
              </a:rPr>
              <a:t>More of you.</a:t>
            </a:r>
          </a:p>
        </p:txBody>
      </p:sp>
    </p:spTree>
    <p:extLst>
      <p:ext uri="{BB962C8B-B14F-4D97-AF65-F5344CB8AC3E}">
        <p14:creationId xmlns:p14="http://schemas.microsoft.com/office/powerpoint/2010/main" val="1149309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BFE836-471D-41E7-A739-51A07A775E6E}"/>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APPLICATIONS</a:t>
            </a:r>
          </a:p>
        </p:txBody>
      </p:sp>
      <p:sp>
        <p:nvSpPr>
          <p:cNvPr id="2" name="Rectangle 1">
            <a:extLst>
              <a:ext uri="{FF2B5EF4-FFF2-40B4-BE49-F238E27FC236}">
                <a16:creationId xmlns:a16="http://schemas.microsoft.com/office/drawing/2014/main" id="{61FA2855-DA6E-4A51-9A0A-0174B9669441}"/>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12</a:t>
            </a:r>
          </a:p>
        </p:txBody>
      </p:sp>
      <p:pic>
        <p:nvPicPr>
          <p:cNvPr id="9" name="Picture 8"/>
          <p:cNvPicPr>
            <a:picLocks noChangeAspect="1"/>
          </p:cNvPicPr>
          <p:nvPr/>
        </p:nvPicPr>
        <p:blipFill>
          <a:blip r:embed="rId3"/>
          <a:srcRect l="213" r="213"/>
          <a:stretch>
            <a:fillRect/>
          </a:stretch>
        </p:blipFill>
        <p:spPr>
          <a:xfrm>
            <a:off x="666750" y="1476375"/>
            <a:ext cx="6381750" cy="5381625"/>
          </a:xfrm>
          <a:prstGeom prst="rect">
            <a:avLst/>
          </a:prstGeom>
        </p:spPr>
      </p:pic>
      <p:pic>
        <p:nvPicPr>
          <p:cNvPr id="10" name="Picture 9"/>
          <p:cNvPicPr>
            <a:picLocks noChangeAspect="1"/>
          </p:cNvPicPr>
          <p:nvPr/>
        </p:nvPicPr>
        <p:blipFill>
          <a:blip r:embed="rId4"/>
          <a:srcRect t="8300" b="8300"/>
          <a:stretch>
            <a:fillRect/>
          </a:stretch>
        </p:blipFill>
        <p:spPr>
          <a:xfrm>
            <a:off x="7953375" y="1476375"/>
            <a:ext cx="6572250" cy="5381625"/>
          </a:xfrm>
          <a:prstGeom prst="rect">
            <a:avLst/>
          </a:prstGeom>
        </p:spPr>
      </p:pic>
      <p:sp>
        <p:nvSpPr>
          <p:cNvPr id="5" name="Rectangle 4">
            <a:extLst>
              <a:ext uri="{FF2B5EF4-FFF2-40B4-BE49-F238E27FC236}">
                <a16:creationId xmlns:a16="http://schemas.microsoft.com/office/drawing/2014/main" id="{40E19AC8-FB0D-4971-8EC9-59FFCF10FE25}"/>
              </a:ext>
            </a:extLst>
          </p:cNvPr>
          <p:cNvSpPr>
            <a:spLocks noGrp="1"/>
          </p:cNvSpPr>
          <p:nvPr/>
        </p:nvSpPr>
        <p:spPr>
          <a:xfrm>
            <a:off x="714375" y="7239000"/>
            <a:ext cx="6572250" cy="571500"/>
          </a:xfrm>
          <a:prstGeom prst="rect">
            <a:avLst/>
          </a:prstGeom>
          <a:noFill/>
          <a:ln w="0">
            <a:noFill/>
          </a:ln>
        </p:spPr>
        <p:txBody>
          <a:bodyPr>
            <a:noAutofit/>
          </a:bodyPr>
          <a:lstStyle/>
          <a:p>
            <a:pPr>
              <a:defRPr sz="2250">
                <a:solidFill>
                  <a:srgbClr val="3A332B"/>
                </a:solidFill>
                <a:latin typeface="Playfair Display"/>
                <a:ea typeface="Playfair Display"/>
                <a:cs typeface="Playfair Display"/>
              </a:defRPr>
            </a:pPr>
            <a:r>
              <a:rPr sz="2250">
                <a:solidFill>
                  <a:srgbClr val="3A332B"/>
                </a:solidFill>
                <a:latin typeface="Playfair Display"/>
                <a:ea typeface="Playfair Display"/>
                <a:cs typeface="Playfair Display"/>
              </a:rPr>
              <a:t>A clear signature at the entrance</a:t>
            </a:r>
          </a:p>
        </p:txBody>
      </p:sp>
      <p:sp>
        <p:nvSpPr>
          <p:cNvPr id="6" name="Rectangle 5">
            <a:extLst>
              <a:ext uri="{FF2B5EF4-FFF2-40B4-BE49-F238E27FC236}">
                <a16:creationId xmlns:a16="http://schemas.microsoft.com/office/drawing/2014/main" id="{9C8614F2-F8AF-4153-AE84-69138E628313}"/>
              </a:ext>
            </a:extLst>
          </p:cNvPr>
          <p:cNvSpPr>
            <a:spLocks noGrp="1"/>
          </p:cNvSpPr>
          <p:nvPr/>
        </p:nvSpPr>
        <p:spPr>
          <a:xfrm>
            <a:off x="8001000" y="7239000"/>
            <a:ext cx="6477000" cy="571500"/>
          </a:xfrm>
          <a:prstGeom prst="rect">
            <a:avLst/>
          </a:prstGeom>
          <a:noFill/>
          <a:ln w="0">
            <a:noFill/>
          </a:ln>
        </p:spPr>
        <p:txBody>
          <a:bodyPr>
            <a:noAutofit/>
          </a:bodyPr>
          <a:lstStyle/>
          <a:p>
            <a:pPr>
              <a:defRPr sz="2250">
                <a:solidFill>
                  <a:srgbClr val="3A332B"/>
                </a:solidFill>
                <a:latin typeface="Playfair Display"/>
                <a:ea typeface="Playfair Display"/>
                <a:cs typeface="Playfair Display"/>
              </a:defRPr>
            </a:pPr>
            <a:r>
              <a:rPr sz="2250">
                <a:solidFill>
                  <a:srgbClr val="3A332B"/>
                </a:solidFill>
                <a:latin typeface="Playfair Display"/>
                <a:ea typeface="Playfair Display"/>
                <a:cs typeface="Playfair Display"/>
              </a:rPr>
              <a:t>A small, considered detail</a:t>
            </a:r>
          </a:p>
        </p:txBody>
      </p:sp>
    </p:spTree>
    <p:extLst>
      <p:ext uri="{BB962C8B-B14F-4D97-AF65-F5344CB8AC3E}">
        <p14:creationId xmlns:p14="http://schemas.microsoft.com/office/powerpoint/2010/main" val="1731485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791DE3-6F13-48FD-8733-DBC7B0F93B49}"/>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DIGITAL EXPRESSION</a:t>
            </a:r>
          </a:p>
        </p:txBody>
      </p:sp>
      <p:sp>
        <p:nvSpPr>
          <p:cNvPr id="2" name="Rectangle 1">
            <a:extLst>
              <a:ext uri="{FF2B5EF4-FFF2-40B4-BE49-F238E27FC236}">
                <a16:creationId xmlns:a16="http://schemas.microsoft.com/office/drawing/2014/main" id="{CEF2B0AA-5416-4307-AB61-22F16EA127BA}"/>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3A332B"/>
                </a:solidFill>
                <a:latin typeface="Plus Jakarta Sans"/>
                <a:ea typeface="Plus Jakarta Sans"/>
                <a:cs typeface="Plus Jakarta Sans"/>
              </a:defRPr>
            </a:pPr>
            <a:r>
              <a:rPr sz="1125">
                <a:solidFill>
                  <a:srgbClr val="3A332B"/>
                </a:solidFill>
                <a:latin typeface="Plus Jakarta Sans"/>
                <a:ea typeface="Plus Jakarta Sans"/>
                <a:cs typeface="Plus Jakarta Sans"/>
              </a:rPr>
              <a:t>13</a:t>
            </a:r>
          </a:p>
        </p:txBody>
      </p:sp>
      <p:sp>
        <p:nvSpPr>
          <p:cNvPr id="3" name="Rectangle 2">
            <a:extLst>
              <a:ext uri="{FF2B5EF4-FFF2-40B4-BE49-F238E27FC236}">
                <a16:creationId xmlns:a16="http://schemas.microsoft.com/office/drawing/2014/main" id="{45CE18AD-ACEC-48FF-878D-345E551F1420}"/>
              </a:ext>
            </a:extLst>
          </p:cNvPr>
          <p:cNvSpPr>
            <a:spLocks noGrp="1"/>
          </p:cNvSpPr>
          <p:nvPr/>
        </p:nvSpPr>
        <p:spPr>
          <a:xfrm>
            <a:off x="714375" y="1762125"/>
            <a:ext cx="7239000" cy="2571750"/>
          </a:xfrm>
          <a:prstGeom prst="rect">
            <a:avLst/>
          </a:prstGeom>
          <a:noFill/>
          <a:ln w="0">
            <a:noFill/>
          </a:ln>
        </p:spPr>
        <p:txBody>
          <a:bodyPr>
            <a:noAutofit/>
          </a:bodyPr>
          <a:lstStyle/>
          <a:p>
            <a:pPr>
              <a:defRPr sz="6750">
                <a:solidFill>
                  <a:srgbClr val="3A332B"/>
                </a:solidFill>
                <a:latin typeface="Playfair Display"/>
                <a:ea typeface="Playfair Display"/>
                <a:cs typeface="Playfair Display"/>
              </a:defRPr>
            </a:pPr>
            <a:r>
              <a:rPr sz="6750">
                <a:solidFill>
                  <a:srgbClr val="3A332B"/>
                </a:solidFill>
                <a:latin typeface="Playfair Display"/>
                <a:ea typeface="Playfair Display"/>
                <a:cs typeface="Playfair Display"/>
              </a:rPr>
              <a:t>The same calm,</a:t>
            </a:r>
          </a:p>
          <a:p>
            <a:pPr>
              <a:defRPr sz="6750">
                <a:solidFill>
                  <a:srgbClr val="3A332B"/>
                </a:solidFill>
                <a:latin typeface="Playfair Display"/>
                <a:ea typeface="Playfair Display"/>
                <a:cs typeface="Playfair Display"/>
              </a:defRPr>
            </a:pPr>
            <a:r>
              <a:rPr sz="6750">
                <a:solidFill>
                  <a:srgbClr val="3A332B"/>
                </a:solidFill>
                <a:latin typeface="Playfair Display"/>
                <a:ea typeface="Playfair Display"/>
                <a:cs typeface="Playfair Display"/>
              </a:rPr>
              <a:t>on every screen.</a:t>
            </a:r>
          </a:p>
        </p:txBody>
      </p:sp>
      <p:sp>
        <p:nvSpPr>
          <p:cNvPr id="4" name="Rectangle 3">
            <a:extLst>
              <a:ext uri="{FF2B5EF4-FFF2-40B4-BE49-F238E27FC236}">
                <a16:creationId xmlns:a16="http://schemas.microsoft.com/office/drawing/2014/main" id="{F623E8A6-BD8B-4199-9A0A-DD2B92D61EBF}"/>
              </a:ext>
            </a:extLst>
          </p:cNvPr>
          <p:cNvSpPr>
            <a:spLocks noGrp="1"/>
          </p:cNvSpPr>
          <p:nvPr/>
        </p:nvSpPr>
        <p:spPr>
          <a:xfrm>
            <a:off x="762000" y="5191125"/>
            <a:ext cx="6762750" cy="2190750"/>
          </a:xfrm>
          <a:prstGeom prst="rect">
            <a:avLst/>
          </a:prstGeom>
          <a:noFill/>
          <a:ln w="0">
            <a:noFill/>
          </a:ln>
        </p:spPr>
        <p:txBody>
          <a:bodyPr>
            <a:noAutofit/>
          </a:bodyPr>
          <a:lstStyle/>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An ivory canvas, expressive serif type and</a:t>
            </a:r>
          </a:p>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careful movement carry the identity online.</a:t>
            </a:r>
          </a:p>
          <a:p>
            <a:endParaRPr sz="2100">
              <a:solidFill>
                <a:srgbClr val="3A332B"/>
              </a:solidFill>
              <a:latin typeface="Plus Jakarta Sans"/>
              <a:ea typeface="Plus Jakarta Sans"/>
              <a:cs typeface="Plus Jakarta Sans"/>
            </a:endParaRPr>
          </a:p>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Treatments, the journal and visit information</a:t>
            </a:r>
          </a:p>
          <a:p>
            <a:pPr>
              <a:defRPr sz="2100">
                <a:solidFill>
                  <a:srgbClr val="3A332B"/>
                </a:solidFill>
                <a:latin typeface="Plus Jakarta Sans"/>
                <a:ea typeface="Plus Jakarta Sans"/>
                <a:cs typeface="Plus Jakarta Sans"/>
              </a:defRPr>
            </a:pPr>
            <a:r>
              <a:rPr sz="2100">
                <a:solidFill>
                  <a:srgbClr val="3A332B"/>
                </a:solidFill>
                <a:latin typeface="Plus Jakarta Sans"/>
                <a:ea typeface="Plus Jakarta Sans"/>
                <a:cs typeface="Plus Jakarta Sans"/>
              </a:rPr>
              <a:t>help each guest find their own way in.</a:t>
            </a:r>
          </a:p>
        </p:txBody>
      </p:sp>
      <p:pic>
        <p:nvPicPr>
          <p:cNvPr id="11" name="Picture 10"/>
          <p:cNvPicPr>
            <a:picLocks noChangeAspect="1"/>
          </p:cNvPicPr>
          <p:nvPr/>
        </p:nvPicPr>
        <p:blipFill>
          <a:blip r:embed="rId3"/>
          <a:srcRect t="7874" b="7874"/>
          <a:stretch>
            <a:fillRect/>
          </a:stretch>
        </p:blipFill>
        <p:spPr>
          <a:xfrm>
            <a:off x="8763000" y="1143000"/>
            <a:ext cx="5715000" cy="6191250"/>
          </a:xfrm>
          <a:prstGeom prst="rect">
            <a:avLst/>
          </a:prstGeom>
        </p:spPr>
      </p:pic>
      <p:sp>
        <p:nvSpPr>
          <p:cNvPr id="6" name="Rectangle 5">
            <a:extLst>
              <a:ext uri="{FF2B5EF4-FFF2-40B4-BE49-F238E27FC236}">
                <a16:creationId xmlns:a16="http://schemas.microsoft.com/office/drawing/2014/main" id="{256FFAC5-7DAC-45F6-AECE-68197FD23AEA}"/>
              </a:ext>
            </a:extLst>
          </p:cNvPr>
          <p:cNvSpPr>
            <a:spLocks noGrp="1"/>
          </p:cNvSpPr>
          <p:nvPr/>
        </p:nvSpPr>
        <p:spPr>
          <a:xfrm>
            <a:off x="8810625" y="7667625"/>
            <a:ext cx="5619750" cy="381000"/>
          </a:xfrm>
          <a:prstGeom prst="rect">
            <a:avLst/>
          </a:prstGeom>
          <a:noFill/>
          <a:ln w="0">
            <a:noFill/>
          </a:ln>
        </p:spPr>
        <p:txBody>
          <a:bodyPr>
            <a:noAutofit/>
          </a:bodyPr>
          <a:lstStyle/>
          <a:p>
            <a:pPr>
              <a:defRPr sz="1425">
                <a:solidFill>
                  <a:srgbClr val="3A332B"/>
                </a:solidFill>
                <a:latin typeface="Plus Jakarta Sans"/>
                <a:ea typeface="Plus Jakarta Sans"/>
                <a:cs typeface="Plus Jakarta Sans"/>
              </a:defRPr>
            </a:pPr>
            <a:r>
              <a:rPr sz="1425">
                <a:solidFill>
                  <a:srgbClr val="3A332B"/>
                </a:solidFill>
                <a:latin typeface="Plus Jakarta Sans"/>
                <a:ea typeface="Plus Jakarta Sans"/>
                <a:cs typeface="Plus Jakarta Sans"/>
              </a:rPr>
              <a:t>SATUUU99.DE</a:t>
            </a:r>
          </a:p>
        </p:txBody>
      </p:sp>
    </p:spTree>
    <p:extLst>
      <p:ext uri="{BB962C8B-B14F-4D97-AF65-F5344CB8AC3E}">
        <p14:creationId xmlns:p14="http://schemas.microsoft.com/office/powerpoint/2010/main" val="10499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A332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377D37-8F6A-4D15-98DB-4DDDFF60ED3C}"/>
              </a:ext>
            </a:extLst>
          </p:cNvPr>
          <p:cNvSpPr>
            <a:spLocks noGrp="1"/>
          </p:cNvSpPr>
          <p:nvPr/>
        </p:nvSpPr>
        <p:spPr>
          <a:xfrm>
            <a:off x="714375" y="457200"/>
            <a:ext cx="12858750" cy="304800"/>
          </a:xfrm>
          <a:prstGeom prst="rect">
            <a:avLst/>
          </a:prstGeom>
          <a:noFill/>
          <a:ln w="0">
            <a:noFill/>
          </a:ln>
        </p:spPr>
        <p:txBody>
          <a:bodyPr>
            <a:noAutofit/>
          </a:bodyPr>
          <a:lstStyle/>
          <a:p>
            <a:pPr>
              <a:defRPr sz="1125">
                <a:solidFill>
                  <a:srgbClr val="D9CEC2"/>
                </a:solidFill>
                <a:latin typeface="Plus Jakarta Sans"/>
                <a:ea typeface="Plus Jakarta Sans"/>
                <a:cs typeface="Plus Jakarta Sans"/>
              </a:defRPr>
            </a:pPr>
            <a:r>
              <a:rPr sz="1125">
                <a:solidFill>
                  <a:srgbClr val="D9CEC2"/>
                </a:solidFill>
                <a:latin typeface="Plus Jakarta Sans"/>
                <a:ea typeface="Plus Jakarta Sans"/>
                <a:cs typeface="Plus Jakarta Sans"/>
              </a:rPr>
              <a:t>SATUUU99</a:t>
            </a:r>
          </a:p>
        </p:txBody>
      </p:sp>
      <p:sp>
        <p:nvSpPr>
          <p:cNvPr id="2" name="Rectangle 1">
            <a:extLst>
              <a:ext uri="{FF2B5EF4-FFF2-40B4-BE49-F238E27FC236}">
                <a16:creationId xmlns:a16="http://schemas.microsoft.com/office/drawing/2014/main" id="{1EC9F843-A376-44A2-80DD-63F0047AA990}"/>
              </a:ext>
            </a:extLst>
          </p:cNvPr>
          <p:cNvSpPr>
            <a:spLocks noGrp="1"/>
          </p:cNvSpPr>
          <p:nvPr/>
        </p:nvSpPr>
        <p:spPr>
          <a:xfrm>
            <a:off x="13906500" y="7905750"/>
            <a:ext cx="666750" cy="285750"/>
          </a:xfrm>
          <a:prstGeom prst="rect">
            <a:avLst/>
          </a:prstGeom>
          <a:noFill/>
          <a:ln w="0">
            <a:noFill/>
          </a:ln>
        </p:spPr>
        <p:txBody>
          <a:bodyPr>
            <a:noAutofit/>
          </a:bodyPr>
          <a:lstStyle/>
          <a:p>
            <a:pPr>
              <a:defRPr sz="1125">
                <a:solidFill>
                  <a:srgbClr val="D9CEC2"/>
                </a:solidFill>
                <a:latin typeface="Plus Jakarta Sans"/>
                <a:ea typeface="Plus Jakarta Sans"/>
                <a:cs typeface="Plus Jakarta Sans"/>
              </a:defRPr>
            </a:pPr>
            <a:r>
              <a:rPr sz="1125">
                <a:solidFill>
                  <a:srgbClr val="D9CEC2"/>
                </a:solidFill>
                <a:latin typeface="Plus Jakarta Sans"/>
                <a:ea typeface="Plus Jakarta Sans"/>
                <a:cs typeface="Plus Jakarta Sans"/>
              </a:rPr>
              <a:t>14</a:t>
            </a:r>
          </a:p>
        </p:txBody>
      </p:sp>
      <p:sp>
        <p:nvSpPr>
          <p:cNvPr id="3" name="Rectangle 2">
            <a:extLst>
              <a:ext uri="{FF2B5EF4-FFF2-40B4-BE49-F238E27FC236}">
                <a16:creationId xmlns:a16="http://schemas.microsoft.com/office/drawing/2014/main" id="{87C209D8-9F2F-422A-A8A1-2780B52A8B64}"/>
              </a:ext>
            </a:extLst>
          </p:cNvPr>
          <p:cNvSpPr>
            <a:spLocks noGrp="1"/>
          </p:cNvSpPr>
          <p:nvPr/>
        </p:nvSpPr>
        <p:spPr>
          <a:xfrm>
            <a:off x="1428750" y="2476500"/>
            <a:ext cx="12477750" cy="3238500"/>
          </a:xfrm>
          <a:prstGeom prst="rect">
            <a:avLst/>
          </a:prstGeom>
          <a:noFill/>
          <a:ln w="0">
            <a:noFill/>
          </a:ln>
        </p:spPr>
        <p:txBody>
          <a:bodyPr>
            <a:noAutofit/>
          </a:bodyPr>
          <a:lstStyle/>
          <a:p>
            <a:pPr>
              <a:defRPr sz="10125">
                <a:solidFill>
                  <a:srgbClr val="F6F3ED"/>
                </a:solidFill>
                <a:latin typeface="Playfair Display"/>
                <a:ea typeface="Playfair Display"/>
                <a:cs typeface="Playfair Display"/>
              </a:defRPr>
            </a:pPr>
            <a:r>
              <a:rPr sz="10125">
                <a:solidFill>
                  <a:srgbClr val="F6F3ED"/>
                </a:solidFill>
                <a:latin typeface="Playfair Display"/>
                <a:ea typeface="Playfair Display"/>
                <a:cs typeface="Playfair Display"/>
              </a:rPr>
              <a:t>Slower days.</a:t>
            </a:r>
          </a:p>
          <a:p>
            <a:pPr>
              <a:defRPr sz="10125">
                <a:solidFill>
                  <a:srgbClr val="F6F3ED"/>
                </a:solidFill>
                <a:latin typeface="Playfair Display"/>
                <a:ea typeface="Playfair Display"/>
                <a:cs typeface="Playfair Display"/>
              </a:defRPr>
            </a:pPr>
            <a:r>
              <a:rPr sz="10125">
                <a:solidFill>
                  <a:srgbClr val="F6F3ED"/>
                </a:solidFill>
                <a:latin typeface="Playfair Display"/>
                <a:ea typeface="Playfair Display"/>
                <a:cs typeface="Playfair Display"/>
              </a:rPr>
              <a:t>Brighter people.</a:t>
            </a:r>
          </a:p>
        </p:txBody>
      </p:sp>
      <p:sp>
        <p:nvSpPr>
          <p:cNvPr id="4" name="Rectangle 3">
            <a:extLst>
              <a:ext uri="{FF2B5EF4-FFF2-40B4-BE49-F238E27FC236}">
                <a16:creationId xmlns:a16="http://schemas.microsoft.com/office/drawing/2014/main" id="{7B31D4A0-28A5-431F-87F1-73DC99BBADD5}"/>
              </a:ext>
            </a:extLst>
          </p:cNvPr>
          <p:cNvSpPr>
            <a:spLocks noGrp="1"/>
          </p:cNvSpPr>
          <p:nvPr/>
        </p:nvSpPr>
        <p:spPr>
          <a:xfrm>
            <a:off x="1476375" y="7000875"/>
            <a:ext cx="11715750" cy="476250"/>
          </a:xfrm>
          <a:prstGeom prst="rect">
            <a:avLst/>
          </a:prstGeom>
          <a:noFill/>
          <a:ln w="0">
            <a:noFill/>
          </a:ln>
        </p:spPr>
        <p:txBody>
          <a:bodyPr>
            <a:noAutofit/>
          </a:bodyPr>
          <a:lstStyle/>
          <a:p>
            <a:pPr>
              <a:defRPr sz="1875">
                <a:solidFill>
                  <a:srgbClr val="D9CEC2"/>
                </a:solidFill>
                <a:latin typeface="Plus Jakarta Sans"/>
                <a:ea typeface="Plus Jakarta Sans"/>
                <a:cs typeface="Plus Jakarta Sans"/>
              </a:defRPr>
            </a:pPr>
            <a:r>
              <a:rPr sz="1875">
                <a:solidFill>
                  <a:srgbClr val="D9CEC2"/>
                </a:solidFill>
                <a:latin typeface="Plus Jakarta Sans"/>
                <a:ea typeface="Plus Jakarta Sans"/>
                <a:cs typeface="Plus Jakarta Sans"/>
              </a:rPr>
              <a:t>A MORE MEANINGFUL TOMORROW</a:t>
            </a:r>
          </a:p>
        </p:txBody>
      </p:sp>
    </p:spTree>
    <p:extLst>
      <p:ext uri="{BB962C8B-B14F-4D97-AF65-F5344CB8AC3E}">
        <p14:creationId xmlns:p14="http://schemas.microsoft.com/office/powerpoint/2010/main" val="101865669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1272</Words>
  <Application>Microsoft Macintosh PowerPoint</Application>
  <DocSecurity>0</DocSecurity>
  <PresentationFormat>Custom</PresentationFormat>
  <Paragraphs>129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Playfair Display</vt:lpstr>
      <vt:lpstr>Plus Jakarta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Jiranan Panlanatiyarak</cp:lastModifiedBy>
  <cp:revision>1</cp:revision>
  <dcterms:created xsi:type="dcterms:W3CDTF">2026-09-12T18:44:01Z</dcterms:created>
  <dcterms:modified xsi:type="dcterms:W3CDTF">2026-09-20T18:51:23Z</dcterms:modified>
</cp:coreProperties>
</file>